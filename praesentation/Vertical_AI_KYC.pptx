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c08b3833-07ae-f121-28f4-53cf8a102041}">
          <p14:sldIdLst>
            <p14:sldId id="256"/>
            <p14:sldId id="257"/>
          </p14:sldIdLst>
        </p14:section>
        <p14:section name="Use Case und Prozess" id="{df86a483-327c-3d4e-63ca-ee67bfae99cd}">
          <p14:sldIdLst>
            <p14:sldId id="258"/>
            <p14:sldId id="259"/>
            <p14:sldId id="260"/>
          </p14:sldIdLst>
        </p14:section>
        <p14:section name="Daten und Modell" id="{80adb06b-82df-48f1-4600-f333c3834a46}">
          <p14:sldIdLst>
            <p14:sldId id="261"/>
            <p14:sldId id="262"/>
            <p14:sldId id="263"/>
            <p14:sldId id="264"/>
          </p14:sldIdLst>
        </p14:section>
        <p14:section name="Demo" id="{fd1bc4bd-c5b9-e374-184c-1e3695a56844}">
          <p14:sldIdLst>
            <p14:sldId id="265"/>
            <p14:sldId id="266"/>
          </p14:sldIdLst>
        </p14:section>
        <p14:section name="Abschluss" id="{8d013432-3b80-ac5a-97ef-c6089366d2c9}">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Vertical AI am Beispiel KYC: Regeln, ein lokal trainiertes Entscheidungsmodell und die manuelle Prüfung im BPMN-Prozess.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Anekdote: TL;DR kennt man von langen Texten – hier die Kurzfassung des Vortrags vorweg.
1. Regeln: DMN-Regeln entscheiden in 1 ms, Laya in 80–250 ms, ein Mensch in Minuten. R4 (USA-Bezug) war in Minuten umgesetzt, eine Korrektur am Modell kostete ein Neutraining.
2. Vertical AI schützt interne Daten: Modell läuft und lernt im eigenen Haus auf einem Mac; keine Kundendaten verlassen die Bank.
3. Das Modell reagierte auf den Dokumenttyp 'Rücklagenbestätigung' statt auf die Wohnadresse an der Reeperbahn.
4. Regeltrigger kann das Modell nicht aufheben; bei technischem Fehler geht der Fall in die manuelle Prüfung.
5. 322 Mio. Parameter, Training in rund 1,5 Stunden auf einem 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Frage: Muss dieser Antrag vor der Kontoanlage manuell geprüft werden oder kann er automatisch freigegeben werden? Ausgangslage: Identität ist geprüft; bewertet werden Selbstauskunft, Screening und eingereichte Unterlagen. Drei Ausgänge: automatische Freigabe, Ablehnung bei eindeutigem Ausschlussgrund (z. B. bestätigter Sanktionstreffer) oder manuelle Prüfung. Dilemma: alles manuell prüfen ist teuer, alles automatisch freigeben ist riskant. Fiktive Demo-Richtlinie, synthetische Daten.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Ablauf: Regeln (DMN) → Prüfung mit LLM (Laya) → Gateway → manuelle Prüfung → Freigabe oder Ablehnung. Automatische Freigabe nur bei grünen Regeln UND LLM-Entscheidung 'keine manuelle Prüfung'. Ein bestätigter Sanktionstreffer (R5) lehnt direkt am ersten Gateway ab, ohne LLM. Fällt Laya aus, geht der Fall in die manuelle Prüfung. Ausgeführt mit CIB seven 2.2 (Spring 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Entscheidungstabelle KYC_RuleCheck mit Trefferpolitik COLLECT; R1–R4 erzwingen die manuelle Prüfung. R5 (bestätigter Sanktionstreffer) ist der einzige Ausschlussgrund: Ablehnung ohne LLM und ohne manuelle Prüfung. R4 (USA-Bezug: US-Steuerpflicht, FATCA, Staatsangehörigkeit, Ansässigkeit oder Adresse USA) war in Minuten ergänzt – ohne Training. Zurück zu Kernaussage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Ohne Beispiele kein Training: Das Modell lernt aus Fällen mit bekannter Sollentscheidung. Start mit 5.000 synthetischen Anträgen, später auf 6.000 erweitert. Motive z. B. K11 (Privatkonto, aber geschäftliche Nutzung), K03 (Darlehen statt Einnahmen). Grenze: Texte aus Vorlagen.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Entscheidungsmodell statt Chatbot: schnell (80–250 ms), lokal, Apache-2.0; liefert Entscheidung und Wahrscheinlichkeiten, keine Begründung. Training auf dem Mac (PyTorch MPS): vorher 246 unnötige Prüfungen von 250, nachher 0. Weitere Modelle möglich, z. B. Qwen3.5-4B mit LLM2Jev (größer, kann zusätzlich Text erzeugen) oder andere Laya-Varianten.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Gemessen auf einem Mac M1 Max: 5.000 Datensätze (4.000 Training, 3 Epochen) in 97,6 Minuten; v2 mit 6.000 Datensätzen (2 Epochen) in 66 Minuten. Das sind rund 0,45 Sekunden je Trainingsfall und Epoche. Die übrigen Werte sind linear hochgerechnet (80 % Training, 3 Epochen): 20.000 in etwa 6 Stunden, 50.000 in etwa 15 Stunden – also über Nacht. 1.000.000 bräuchte auf dem Mac rund 12 Tage; bei so vielen Daten reicht oft 1 Epoche (rund 4 Tage), sinnvoller ist dann ein GPU-Server (nicht gemessen). Wiederholen: Daten ergänzen (augment_dataset.py, Sekunden), trainieren (kyc_train.py), prüfen mit Testsplit und Gegenproben (Minuten), dann im Laya-Dienst das Modell tauschen (LAYA_MODEL, Neustart in Sekunden). BPMN und DMN bleiben unverändert. Beispiel v2: Die Reeperbahn-Abkürzung wurde mit 1.000 neuen Varianten in rund 1 Stunde 40 Minuten Training behoben: ein erster Lauf bis Epoche 1 (36 Minuten), dann ab diesem Zwischenstand weiter (66 Minuten).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Datenschutz: Kundendaten gingen an einen externen Dienst – widerspricht Kernaussage 2. Kosten und Tempo: pro Antrag Sekunden und Gebühren je Token statt Millisekunden auf eigener Hardware. Kontrolle: nicht im eigenen Haus auf die eigene Richtlinie trainierbar, Modellversionen wechseln beim Anbieter. Prüfbarkeit: freier Text statt fester Entscheidung mit Wahrscheinlichkeit. Fairerweise: Ein großes LLM könnte Begründungen formulieren – das kann Laya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K01: automatische Freigabe. K11: Privatkonto mit geplanter Geschäftsnutzung – Laya schickt in die Prüfung. K06: Laya sagt ok, Regel R4 erzwingt die Prüfung. K15: bestätigter Sanktionstreffer, R5 lehnt sofort ab – Laya wird gar nicht gefragt. K13/K14: Karl (Wohnadresse Reeperbahn) gegen Marcin (nur Arbeitgeber an der Reeperbahn). Danach manuelle Prüfung im Postkorb und Ablauf im Dashboard. Weboberfläche: http://localhost:8080. Dieselben Instanzen in den Werkzeugen von CIB seven: Cockpit (/camunda/app/cockpit/, demo/demo) mit DMN-Trefferzeilen, Tasklist (/camunda/app/tasklist/, anna/anna) mit derselben manuellen Prüfung.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Demo läuft auf CIB seven 2.2, dem Open-Source-Fork von Camunda 7, eingebettet in einen Spring-Boot-Dienst. BPMN und DMN werden beim Start deployt; die Regeln wertet die Engine selbst aus, Laya hängt per Service-Task über REST an. Cockpit und Tasklist kommen mit, die Historie der Engine speist unser Dashboard und dient als Prüfpfad. Grenze: Postkorb, Prüfmaske und Dashboard der Demo haben wir selbst gebaut; Formulare, Vertretung, Rechte und Betrieb für viele Sachbearbeiter fehlen. Dafür empfehlen wir CIB flow: Low-Code-BPM-Plattform der CIB software GmbH auf Basis von CIB seven mit Taskliste, Formularbaukasten (EasyForm), Rechteverwaltung, Dokumenten-Viewer und Konnektoren zu REST-APIs, on-premise oder als SaaS. Prozess, Regeln und Laya-Anbindung lassen sich unverändert übernehmen. Dieselbe Demo gibt es auch als Kogito-Microservice (Quarkus).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Minuten Fragerunde. Der QR-Code führt zum Beitrag auf piu.de (https://www.piu.de/vertical-ai-im-kyc-prozess/); dort steht der Link zum GitHub-Repository mit Code, Daten und Modell.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pic>
        <p:nvPicPr>
          <p:cNvPr id="2" name="Image 0" descr="/Users/mp/Documents/VSC-Projekte/Vorträge/Vertical AI CIB seven/praesentation/assets/logo_piu.png">    </p:cNvPr>
          <p:cNvPicPr>
            <a:picLocks noChangeAspect="1"/>
          </p:cNvPicPr>
          <p:nvPr/>
        </p:nvPicPr>
        <p:blipFill>
          <a:blip r:embed="rId1"/>
          <a:stretch>
            <a:fillRect/>
          </a:stretch>
        </p:blipFill>
        <p:spPr>
          <a:xfrm>
            <a:off x="548640" y="548640"/>
            <a:ext cx="3840480" cy="568960"/>
          </a:xfrm>
          <a:prstGeom prst="rect">
            <a:avLst/>
          </a:prstGeom>
        </p:spPr>
      </p:pic>
      <p:sp>
        <p:nvSpPr>
          <p:cNvPr id="3" name="Text 0"/>
          <p:cNvSpPr/>
          <p:nvPr>
            <p:ph idx="101" type="title" hasCustomPrompt="1"/>
          </p:nvPr>
        </p:nvSpPr>
        <p:spPr>
          <a:xfrm>
            <a:off x="548640" y="2331720"/>
            <a:ext cx="11094415" cy="118872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4" name="Text 0"/>
          <p:cNvSpPr/>
          <p:nvPr>
            <p:ph idx="102" type="body" hasCustomPrompt="1"/>
          </p:nvPr>
        </p:nvSpPr>
        <p:spPr>
          <a:xfrm>
            <a:off x="548640" y="3657600"/>
            <a:ext cx="11094415" cy="914400"/>
          </a:xfrm>
          <a:prstGeom prst="rect">
            <a:avLst/>
          </a:prstGeom>
          <a:noFill/>
          <a:ln/>
        </p:spPr>
        <p:txBody>
          <a:bodyPr wrap="square" rtlCol="0"/>
          <a:lstStyle>
            <a:lvl1pPr algn="l" indent="0" marL="0">
              <a:buNone/>
              <a:defRPr lang="en-US" sz="2200" dirty="0">
                <a:solidFill>
                  <a:schemeClr val="tx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Users/mp/Documents/VSC-Projekte/Vorträge/Vertical AI CIB seven/praesentation/assets/logo_piu.png">    </p:cNvPr>
          <p:cNvPicPr>
            <a:picLocks noChangeAspect="1"/>
          </p:cNvPicPr>
          <p:nvPr/>
        </p:nvPicPr>
        <p:blipFill>
          <a:blip r:embed="rId1"/>
          <a:stretch>
            <a:fillRect/>
          </a:stretch>
        </p:blipFill>
        <p:spPr>
          <a:xfrm>
            <a:off x="548640" y="6355080"/>
            <a:ext cx="1737360" cy="257387"/>
          </a:xfrm>
          <a:prstGeom prst="rect">
            <a:avLst/>
          </a:prstGeom>
        </p:spPr>
      </p:pic>
      <p:sp>
        <p:nvSpPr>
          <p:cNvPr id="3" name="Text 0"/>
          <p:cNvSpPr/>
          <p:nvPr>
            <p:ph idx="101" type="title" hasCustomPrompt="1"/>
          </p:nvPr>
        </p:nvSpPr>
        <p:spPr>
          <a:xfrm>
            <a:off x="548640" y="411480"/>
            <a:ext cx="11094415"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75757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7575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548640" y="2331720"/>
            <a:ext cx="11094415" cy="1188720"/>
          </a:xfrm>
          <a:prstGeom prst="rect">
            <a:avLst/>
          </a:prstGeom>
          <a:noFill/>
          <a:ln/>
        </p:spPr>
        <p:txBody>
          <a:bodyPr wrap="square" lIns="0" tIns="0" rIns="0" bIns="0" rtlCol="0" anchor="b"/>
          <a:lstStyle/>
          <a:p>
            <a:pPr algn="l" indent="0" marL="0">
              <a:buNone/>
            </a:pPr>
            <a:r>
              <a:rPr lang="en-US" sz="5400" b="1" dirty="0">
                <a:solidFill>
                  <a:schemeClr val="tx1"/>
                </a:solidFill>
              </a:rPr>
              <a:t>Vertical AI</a:t>
            </a:r>
            <a:endParaRPr lang="en-US" sz="5400" dirty="0"/>
          </a:p>
        </p:txBody>
      </p:sp>
      <p:sp>
        <p:nvSpPr>
          <p:cNvPr id="3" name="Text 0"/>
          <p:cNvSpPr/>
          <p:nvPr>
            <p:ph idx="102" type="body" hasCustomPrompt="1"/>
          </p:nvPr>
        </p:nvSpPr>
        <p:spPr>
          <a:xfrm>
            <a:off x="548640" y="3657600"/>
            <a:ext cx="11094415" cy="914400"/>
          </a:xfrm>
          <a:prstGeom prst="rect">
            <a:avLst/>
          </a:prstGeom>
          <a:noFill/>
          <a:ln/>
        </p:spPr>
        <p:txBody>
          <a:bodyPr wrap="square" lIns="0" tIns="0" rIns="0" bIns="0" rtlCol="0" anchor="t"/>
          <a:lstStyle/>
          <a:p>
            <a:pPr algn="l" indent="0" marL="0">
              <a:buNone/>
            </a:pPr>
            <a:r>
              <a:rPr lang="en-US" sz="2200" dirty="0">
                <a:solidFill>
                  <a:schemeClr val="tx1"/>
                </a:solidFill>
              </a:rPr>
              <a:t>KYC-Prüfung mit Regeln, KI und manueller Prüfung</a:t>
            </a:r>
            <a:endParaRPr lang="en-US" sz="2200" dirty="0"/>
          </a:p>
        </p:txBody>
      </p:sp>
      <p:sp>
        <p:nvSpPr>
          <p:cNvPr id="4" name="Startereignis"/>
          <p:cNvSpPr/>
          <p:nvPr/>
        </p:nvSpPr>
        <p:spPr>
          <a:xfrm>
            <a:off x="548640" y="5394960"/>
            <a:ext cx="384048" cy="384048"/>
          </a:xfrm>
          <a:prstGeom prst="ellipse">
            <a:avLst/>
          </a:prstGeom>
          <a:solidFill>
            <a:srgbClr val="FFFFFF"/>
          </a:solidFill>
          <a:ln w="19050">
            <a:solidFill>
              <a:srgbClr val="121212"/>
            </a:solidFill>
            <a:prstDash val="solid"/>
          </a:ln>
        </p:spPr>
      </p:sp>
      <p:sp>
        <p:nvSpPr>
          <p:cNvPr id="5" name="Sequenzfluss"/>
          <p:cNvSpPr/>
          <p:nvPr/>
        </p:nvSpPr>
        <p:spPr>
          <a:xfrm>
            <a:off x="932688" y="5586984"/>
            <a:ext cx="621792" cy="0"/>
          </a:xfrm>
          <a:prstGeom prst="line">
            <a:avLst/>
          </a:prstGeom>
          <a:noFill/>
          <a:ln w="19050">
            <a:solidFill>
              <a:srgbClr val="121212"/>
            </a:solidFill>
            <a:prstDash val="solid"/>
            <a:tailEnd type="triangle"/>
          </a:ln>
        </p:spPr>
      </p:sp>
      <p:sp>
        <p:nvSpPr>
          <p:cNvPr id="6" name="Aufgabe Regeln"/>
          <p:cNvSpPr/>
          <p:nvPr/>
        </p:nvSpPr>
        <p:spPr>
          <a:xfrm>
            <a:off x="1554480" y="5257800"/>
            <a:ext cx="1737360" cy="658368"/>
          </a:xfrm>
          <a:prstGeom prst="roundRect">
            <a:avLst>
              <a:gd name="adj" fmla="val 16667"/>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1400" dirty="0">
                <a:solidFill>
                  <a:schemeClr val="tx1"/>
                </a:solidFill>
              </a:rPr>
              <a:t>Regeln</a:t>
            </a:r>
            <a:endParaRPr lang="en-US" sz="1400" dirty="0"/>
          </a:p>
        </p:txBody>
      </p:sp>
      <p:sp>
        <p:nvSpPr>
          <p:cNvPr id="7" name="Sequenzfluss"/>
          <p:cNvSpPr/>
          <p:nvPr/>
        </p:nvSpPr>
        <p:spPr>
          <a:xfrm>
            <a:off x="3291840" y="5586984"/>
            <a:ext cx="548640" cy="0"/>
          </a:xfrm>
          <a:prstGeom prst="line">
            <a:avLst/>
          </a:prstGeom>
          <a:noFill/>
          <a:ln w="19050">
            <a:solidFill>
              <a:srgbClr val="121212"/>
            </a:solidFill>
            <a:prstDash val="solid"/>
            <a:tailEnd type="triangle"/>
          </a:ln>
        </p:spPr>
      </p:sp>
      <p:sp>
        <p:nvSpPr>
          <p:cNvPr id="8" name="Aufgabe KI"/>
          <p:cNvSpPr/>
          <p:nvPr/>
        </p:nvSpPr>
        <p:spPr>
          <a:xfrm>
            <a:off x="3840480" y="5257800"/>
            <a:ext cx="1737360" cy="658368"/>
          </a:xfrm>
          <a:prstGeom prst="roundRect">
            <a:avLst>
              <a:gd name="adj" fmla="val 16667"/>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1400" dirty="0">
                <a:solidFill>
                  <a:schemeClr val="tx1"/>
                </a:solidFill>
              </a:rPr>
              <a:t>KI</a:t>
            </a:r>
            <a:endParaRPr lang="en-US" sz="1400" dirty="0"/>
          </a:p>
        </p:txBody>
      </p:sp>
      <p:sp>
        <p:nvSpPr>
          <p:cNvPr id="9" name="Sequenzfluss"/>
          <p:cNvSpPr/>
          <p:nvPr/>
        </p:nvSpPr>
        <p:spPr>
          <a:xfrm>
            <a:off x="5577840" y="5586984"/>
            <a:ext cx="548640" cy="0"/>
          </a:xfrm>
          <a:prstGeom prst="line">
            <a:avLst/>
          </a:prstGeom>
          <a:noFill/>
          <a:ln w="19050">
            <a:solidFill>
              <a:srgbClr val="121212"/>
            </a:solidFill>
            <a:prstDash val="solid"/>
            <a:tailEnd type="triangle"/>
          </a:ln>
        </p:spPr>
      </p:sp>
      <p:sp>
        <p:nvSpPr>
          <p:cNvPr id="10" name="Aufgabe Mensch"/>
          <p:cNvSpPr/>
          <p:nvPr/>
        </p:nvSpPr>
        <p:spPr>
          <a:xfrm>
            <a:off x="6126480" y="5257800"/>
            <a:ext cx="1737360" cy="658368"/>
          </a:xfrm>
          <a:prstGeom prst="roundRect">
            <a:avLst>
              <a:gd name="adj" fmla="val 16667"/>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1400" dirty="0">
                <a:solidFill>
                  <a:schemeClr val="tx1"/>
                </a:solidFill>
              </a:rPr>
              <a:t>Mensch</a:t>
            </a:r>
            <a:endParaRPr lang="en-US" sz="1400" dirty="0"/>
          </a:p>
        </p:txBody>
      </p:sp>
      <p:sp>
        <p:nvSpPr>
          <p:cNvPr id="11" name="Sequenzfluss"/>
          <p:cNvSpPr/>
          <p:nvPr/>
        </p:nvSpPr>
        <p:spPr>
          <a:xfrm>
            <a:off x="7863840" y="5586984"/>
            <a:ext cx="548640" cy="0"/>
          </a:xfrm>
          <a:prstGeom prst="line">
            <a:avLst/>
          </a:prstGeom>
          <a:noFill/>
          <a:ln w="19050">
            <a:solidFill>
              <a:srgbClr val="121212"/>
            </a:solidFill>
            <a:prstDash val="solid"/>
            <a:tailEnd type="triangle"/>
          </a:ln>
        </p:spPr>
      </p:sp>
      <p:sp>
        <p:nvSpPr>
          <p:cNvPr id="12" name="Endereignis"/>
          <p:cNvSpPr/>
          <p:nvPr/>
        </p:nvSpPr>
        <p:spPr>
          <a:xfrm>
            <a:off x="8412480" y="5394960"/>
            <a:ext cx="384048" cy="384048"/>
          </a:xfrm>
          <a:prstGeom prst="ellipse">
            <a:avLst/>
          </a:prstGeom>
          <a:solidFill>
            <a:srgbClr val="FFFFFF"/>
          </a:solidFill>
          <a:ln w="50800">
            <a:solidFill>
              <a:srgbClr val="12121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000" b="1" dirty="0">
                <a:solidFill>
                  <a:schemeClr val="tx1"/>
                </a:solidFill>
              </a:rPr>
              <a:t>TL;DR – Too long, didn't read</a:t>
            </a:r>
            <a:endParaRPr lang="en-US" sz="3000" dirty="0"/>
          </a:p>
        </p:txBody>
      </p:sp>
      <p:sp>
        <p:nvSpPr>
          <p:cNvPr id="3" name="Zitatbalken"/>
          <p:cNvSpPr/>
          <p:nvPr/>
        </p:nvSpPr>
        <p:spPr>
          <a:xfrm>
            <a:off x="548640" y="1600200"/>
            <a:ext cx="68580" cy="4023360"/>
          </a:xfrm>
          <a:prstGeom prst="rect">
            <a:avLst/>
          </a:prstGeom>
          <a:solidFill>
            <a:srgbClr val="121212"/>
          </a:solidFill>
          <a:ln w="12700">
            <a:solidFill>
              <a:srgbClr val="121212"/>
            </a:solidFill>
            <a:prstDash val="solid"/>
          </a:ln>
        </p:spPr>
      </p:sp>
      <p:sp>
        <p:nvSpPr>
          <p:cNvPr id="4" name="Kernaussage 1"/>
          <p:cNvSpPr txBox="1"/>
          <p:nvPr/>
        </p:nvSpPr>
        <p:spPr>
          <a:xfrm>
            <a:off x="868680" y="1600200"/>
            <a:ext cx="10774375" cy="658368"/>
          </a:xfrm>
          <a:prstGeom prst="rect">
            <a:avLst/>
          </a:prstGeom>
          <a:noFill/>
          <a:ln/>
        </p:spPr>
        <p:txBody>
          <a:bodyPr wrap="square" lIns="0" tIns="0" rIns="0" bIns="0" rtlCol="0" anchor="ctr"/>
          <a:lstStyle/>
          <a:p>
            <a:pPr indent="0" marL="0">
              <a:buNone/>
            </a:pPr>
            <a:r>
              <a:rPr lang="en-US" sz="1900" b="1" dirty="0">
                <a:solidFill>
                  <a:schemeClr val="tx1"/>
                </a:solidFill>
              </a:rPr>
              <a:t>1. </a:t>
            </a:r>
            <a:pPr indent="0" marL="0">
              <a:buNone/>
            </a:pPr>
            <a:r>
              <a:rPr lang="en-US" sz="1900" dirty="0">
                <a:solidFill>
                  <a:schemeClr val="tx1"/>
                </a:solidFill>
              </a:rPr>
              <a:t>Regeln sind immer effizienter als Intelligenz – ob künstlich oder natürlich</a:t>
            </a:r>
            <a:endParaRPr lang="en-US" sz="1900" dirty="0"/>
          </a:p>
        </p:txBody>
      </p:sp>
      <p:sp>
        <p:nvSpPr>
          <p:cNvPr id="5" name="Kernaussage 2"/>
          <p:cNvSpPr txBox="1"/>
          <p:nvPr/>
        </p:nvSpPr>
        <p:spPr>
          <a:xfrm>
            <a:off x="868680" y="2441448"/>
            <a:ext cx="10774375" cy="658368"/>
          </a:xfrm>
          <a:prstGeom prst="rect">
            <a:avLst/>
          </a:prstGeom>
          <a:noFill/>
          <a:ln/>
        </p:spPr>
        <p:txBody>
          <a:bodyPr wrap="square" lIns="0" tIns="0" rIns="0" bIns="0" rtlCol="0" anchor="ctr"/>
          <a:lstStyle/>
          <a:p>
            <a:pPr indent="0" marL="0">
              <a:buNone/>
            </a:pPr>
            <a:r>
              <a:rPr lang="en-US" sz="1900" b="1" dirty="0">
                <a:solidFill>
                  <a:schemeClr val="tx1"/>
                </a:solidFill>
              </a:rPr>
              <a:t>2. </a:t>
            </a:r>
            <a:pPr indent="0" marL="0">
              <a:buNone/>
            </a:pPr>
            <a:r>
              <a:rPr lang="en-US" sz="1900" dirty="0">
                <a:solidFill>
                  <a:schemeClr val="tx1"/>
                </a:solidFill>
              </a:rPr>
              <a:t>Vertical AI schützt interne Daten</a:t>
            </a:r>
            <a:endParaRPr lang="en-US" sz="1900" dirty="0"/>
          </a:p>
        </p:txBody>
      </p:sp>
      <p:sp>
        <p:nvSpPr>
          <p:cNvPr id="6" name="Kernaussage 3"/>
          <p:cNvSpPr txBox="1"/>
          <p:nvPr/>
        </p:nvSpPr>
        <p:spPr>
          <a:xfrm>
            <a:off x="868680" y="3282696"/>
            <a:ext cx="10774375" cy="658368"/>
          </a:xfrm>
          <a:prstGeom prst="rect">
            <a:avLst/>
          </a:prstGeom>
          <a:noFill/>
          <a:ln/>
        </p:spPr>
        <p:txBody>
          <a:bodyPr wrap="square" lIns="0" tIns="0" rIns="0" bIns="0" rtlCol="0" anchor="ctr"/>
          <a:lstStyle/>
          <a:p>
            <a:pPr indent="0" marL="0">
              <a:buNone/>
            </a:pPr>
            <a:r>
              <a:rPr lang="en-US" sz="1900" b="1" dirty="0">
                <a:solidFill>
                  <a:schemeClr val="tx1"/>
                </a:solidFill>
              </a:rPr>
              <a:t>3. </a:t>
            </a:r>
            <a:pPr indent="0" marL="0">
              <a:buNone/>
            </a:pPr>
            <a:r>
              <a:rPr lang="en-US" sz="1900" dirty="0">
                <a:solidFill>
                  <a:schemeClr val="tx1"/>
                </a:solidFill>
              </a:rPr>
              <a:t>Das Modell lernt, was in den Daten steckt – nicht, was wir gern hätten!</a:t>
            </a:r>
            <a:endParaRPr lang="en-US" sz="1900" dirty="0"/>
          </a:p>
        </p:txBody>
      </p:sp>
      <p:sp>
        <p:nvSpPr>
          <p:cNvPr id="7" name="Kernaussage 4"/>
          <p:cNvSpPr txBox="1"/>
          <p:nvPr/>
        </p:nvSpPr>
        <p:spPr>
          <a:xfrm>
            <a:off x="868680" y="4123944"/>
            <a:ext cx="10774375" cy="658368"/>
          </a:xfrm>
          <a:prstGeom prst="rect">
            <a:avLst/>
          </a:prstGeom>
          <a:noFill/>
          <a:ln/>
        </p:spPr>
        <p:txBody>
          <a:bodyPr wrap="square" lIns="0" tIns="0" rIns="0" bIns="0" rtlCol="0" anchor="ctr"/>
          <a:lstStyle/>
          <a:p>
            <a:pPr indent="0" marL="0">
              <a:buNone/>
            </a:pPr>
            <a:r>
              <a:rPr lang="en-US" sz="1900" b="1" dirty="0">
                <a:solidFill>
                  <a:schemeClr val="tx1"/>
                </a:solidFill>
              </a:rPr>
              <a:t>4. </a:t>
            </a:r>
            <a:pPr indent="0" marL="0">
              <a:buNone/>
            </a:pPr>
            <a:r>
              <a:rPr lang="en-US" sz="1900" dirty="0">
                <a:solidFill>
                  <a:schemeClr val="tx1"/>
                </a:solidFill>
              </a:rPr>
              <a:t>Der Prozess entscheidet, wann der Mensch prüft – nicht die KI</a:t>
            </a:r>
            <a:endParaRPr lang="en-US" sz="1900" dirty="0"/>
          </a:p>
        </p:txBody>
      </p:sp>
      <p:sp>
        <p:nvSpPr>
          <p:cNvPr id="8" name="Kernaussage 5"/>
          <p:cNvSpPr txBox="1"/>
          <p:nvPr/>
        </p:nvSpPr>
        <p:spPr>
          <a:xfrm>
            <a:off x="868680" y="4965192"/>
            <a:ext cx="10774375" cy="658368"/>
          </a:xfrm>
          <a:prstGeom prst="rect">
            <a:avLst/>
          </a:prstGeom>
          <a:noFill/>
          <a:ln/>
        </p:spPr>
        <p:txBody>
          <a:bodyPr wrap="square" lIns="0" tIns="0" rIns="0" bIns="0" rtlCol="0" anchor="ctr"/>
          <a:lstStyle/>
          <a:p>
            <a:pPr indent="0" marL="0">
              <a:buNone/>
            </a:pPr>
            <a:r>
              <a:rPr lang="en-US" sz="1900" b="1" dirty="0">
                <a:solidFill>
                  <a:schemeClr val="tx1"/>
                </a:solidFill>
              </a:rPr>
              <a:t>5. </a:t>
            </a:r>
            <a:pPr indent="0" marL="0">
              <a:buNone/>
            </a:pPr>
            <a:r>
              <a:rPr lang="en-US" sz="1900" dirty="0">
                <a:solidFill>
                  <a:schemeClr val="tx1"/>
                </a:solidFill>
              </a:rPr>
              <a:t>Spezialisierte KI ist klein, lokal trainierbar, schnell und günstig</a:t>
            </a:r>
            <a:endParaRPr lang="en-US" sz="1900" dirty="0"/>
          </a:p>
        </p:txBody>
      </p:sp>
      <p:sp>
        <p:nvSpPr>
          <p:cNvPr id="25" name="Slide Number Placeholder 0"/>
          <p:cNvSpPr>
            <a:spLocks noGrp="1"/>
          </p:cNvSpPr>
          <p:nvPr>
            <p:ph type="sldNum" sz="quarter" idx="4294967295"/>
          </p:nvPr>
        </p:nvSpPr>
        <p:spPr>
          <a:xfrm>
            <a:off x="11094415"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7575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000" b="1" dirty="0">
                <a:solidFill>
                  <a:schemeClr val="tx1"/>
                </a:solidFill>
              </a:rPr>
              <a:t>Use Case: KYC bei der Kontoeröffnung</a:t>
            </a:r>
            <a:endParaRPr lang="en-US" sz="3000" dirty="0"/>
          </a:p>
        </p:txBody>
      </p:sp>
      <p:sp>
        <p:nvSpPr>
          <p:cNvPr id="3" name="Untertitel"/>
          <p:cNvSpPr txBox="1"/>
          <p:nvPr/>
        </p:nvSpPr>
        <p:spPr>
          <a:xfrm>
            <a:off x="548640" y="1234440"/>
            <a:ext cx="11094415" cy="411480"/>
          </a:xfrm>
          <a:prstGeom prst="rect">
            <a:avLst/>
          </a:prstGeom>
          <a:noFill/>
          <a:ln/>
        </p:spPr>
        <p:txBody>
          <a:bodyPr wrap="square" lIns="0" tIns="0" rIns="0" bIns="0" rtlCol="0" anchor="ctr"/>
          <a:lstStyle/>
          <a:p>
            <a:pPr indent="0" marL="0">
              <a:buNone/>
            </a:pPr>
            <a:r>
              <a:rPr lang="en-US" sz="1600" dirty="0">
                <a:solidFill>
                  <a:srgbClr val="757575"/>
                </a:solidFill>
              </a:rPr>
              <a:t>Privatkunden · nach erfolgreicher Identitätsprüfung · vor der Kontoanlage</a:t>
            </a:r>
            <a:endParaRPr lang="en-US" sz="1600" dirty="0"/>
          </a:p>
        </p:txBody>
      </p:sp>
      <p:sp>
        <p:nvSpPr>
          <p:cNvPr id="4" name="Zitatbalken"/>
          <p:cNvSpPr/>
          <p:nvPr/>
        </p:nvSpPr>
        <p:spPr>
          <a:xfrm>
            <a:off x="548640" y="1965960"/>
            <a:ext cx="68580" cy="960120"/>
          </a:xfrm>
          <a:prstGeom prst="rect">
            <a:avLst/>
          </a:prstGeom>
          <a:solidFill>
            <a:srgbClr val="121212"/>
          </a:solidFill>
          <a:ln w="12700">
            <a:solidFill>
              <a:srgbClr val="121212"/>
            </a:solidFill>
            <a:prstDash val="solid"/>
          </a:ln>
        </p:spPr>
      </p:sp>
      <p:sp>
        <p:nvSpPr>
          <p:cNvPr id="5" name="Leitfrage"/>
          <p:cNvSpPr txBox="1"/>
          <p:nvPr/>
        </p:nvSpPr>
        <p:spPr>
          <a:xfrm>
            <a:off x="868680" y="1965960"/>
            <a:ext cx="10774375" cy="960120"/>
          </a:xfrm>
          <a:prstGeom prst="rect">
            <a:avLst/>
          </a:prstGeom>
          <a:noFill/>
          <a:ln/>
        </p:spPr>
        <p:txBody>
          <a:bodyPr wrap="square" lIns="0" tIns="0" rIns="0" bIns="0" rtlCol="0" anchor="ctr"/>
          <a:lstStyle/>
          <a:p>
            <a:pPr indent="0" marL="0">
              <a:buNone/>
            </a:pPr>
            <a:r>
              <a:rPr lang="en-US" sz="2800" b="1" dirty="0">
                <a:solidFill>
                  <a:schemeClr val="tx1"/>
                </a:solidFill>
              </a:rPr>
              <a:t>Muss dieser Antrag manuell geprüft werden?</a:t>
            </a:r>
            <a:endParaRPr lang="en-US" sz="2800" dirty="0"/>
          </a:p>
        </p:txBody>
      </p:sp>
      <p:sp>
        <p:nvSpPr>
          <p:cNvPr id="6" name="Startereignis"/>
          <p:cNvSpPr/>
          <p:nvPr/>
        </p:nvSpPr>
        <p:spPr>
          <a:xfrm>
            <a:off x="548640" y="4343400"/>
            <a:ext cx="384048" cy="384048"/>
          </a:xfrm>
          <a:prstGeom prst="ellipse">
            <a:avLst/>
          </a:prstGeom>
          <a:solidFill>
            <a:srgbClr val="FFFFFF"/>
          </a:solidFill>
          <a:ln w="19050">
            <a:solidFill>
              <a:srgbClr val="121212"/>
            </a:solidFill>
            <a:prstDash val="solid"/>
          </a:ln>
        </p:spPr>
      </p:sp>
      <p:sp>
        <p:nvSpPr>
          <p:cNvPr id="7" name="Sequenzfluss"/>
          <p:cNvSpPr/>
          <p:nvPr/>
        </p:nvSpPr>
        <p:spPr>
          <a:xfrm>
            <a:off x="932688" y="4535424"/>
            <a:ext cx="530352" cy="0"/>
          </a:xfrm>
          <a:prstGeom prst="line">
            <a:avLst/>
          </a:prstGeom>
          <a:noFill/>
          <a:ln w="19050">
            <a:solidFill>
              <a:srgbClr val="121212"/>
            </a:solidFill>
            <a:prstDash val="solid"/>
            <a:tailEnd type="triangle"/>
          </a:ln>
        </p:spPr>
      </p:sp>
      <p:sp>
        <p:nvSpPr>
          <p:cNvPr id="8" name="Aufgabe Kontoantrag"/>
          <p:cNvSpPr/>
          <p:nvPr/>
        </p:nvSpPr>
        <p:spPr>
          <a:xfrm>
            <a:off x="1463040" y="4206240"/>
            <a:ext cx="2194560" cy="658368"/>
          </a:xfrm>
          <a:prstGeom prst="roundRect">
            <a:avLst>
              <a:gd name="adj" fmla="val 16667"/>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1600" dirty="0">
                <a:solidFill>
                  <a:schemeClr val="tx1"/>
                </a:solidFill>
              </a:rPr>
              <a:t>Kontoantrag</a:t>
            </a:r>
            <a:endParaRPr lang="en-US" sz="1600" dirty="0"/>
          </a:p>
        </p:txBody>
      </p:sp>
      <p:sp>
        <p:nvSpPr>
          <p:cNvPr id="9" name="Sequenzfluss"/>
          <p:cNvSpPr/>
          <p:nvPr/>
        </p:nvSpPr>
        <p:spPr>
          <a:xfrm>
            <a:off x="3657600" y="4535424"/>
            <a:ext cx="548640" cy="0"/>
          </a:xfrm>
          <a:prstGeom prst="line">
            <a:avLst/>
          </a:prstGeom>
          <a:noFill/>
          <a:ln w="19050">
            <a:solidFill>
              <a:srgbClr val="121212"/>
            </a:solidFill>
            <a:prstDash val="solid"/>
            <a:tailEnd type="triangle"/>
          </a:ln>
        </p:spPr>
      </p:sp>
      <p:sp>
        <p:nvSpPr>
          <p:cNvPr id="10" name="Gateway"/>
          <p:cNvSpPr/>
          <p:nvPr/>
        </p:nvSpPr>
        <p:spPr>
          <a:xfrm>
            <a:off x="4206240" y="4192524"/>
            <a:ext cx="685800" cy="685800"/>
          </a:xfrm>
          <a:prstGeom prst="diamond">
            <a:avLst/>
          </a:prstGeom>
          <a:solidFill>
            <a:srgbClr val="FFFFFF"/>
          </a:solidFill>
          <a:ln w="19050">
            <a:solidFill>
              <a:srgbClr val="121212"/>
            </a:solidFill>
          </a:ln>
        </p:spPr>
        <p:txBody>
          <a:bodyPr wrap="square" lIns="0" tIns="0" rIns="0" bIns="0" rtlCol="0" anchor="ctr"/>
          <a:lstStyle/>
          <a:p>
            <a:pPr algn="ctr" indent="0" marL="0">
              <a:buNone/>
            </a:pPr>
            <a:r>
              <a:rPr lang="en-US" sz="1600" b="1" dirty="0">
                <a:solidFill>
                  <a:schemeClr val="tx1"/>
                </a:solidFill>
              </a:rPr>
              <a:t>X</a:t>
            </a:r>
            <a:endParaRPr lang="en-US" sz="1600" dirty="0"/>
          </a:p>
        </p:txBody>
      </p:sp>
      <p:sp>
        <p:nvSpPr>
          <p:cNvPr id="11" name="Sequenzfluss"/>
          <p:cNvSpPr/>
          <p:nvPr/>
        </p:nvSpPr>
        <p:spPr>
          <a:xfrm flipV="1">
            <a:off x="4549140" y="3483864"/>
            <a:ext cx="0" cy="708660"/>
          </a:xfrm>
          <a:prstGeom prst="line">
            <a:avLst/>
          </a:prstGeom>
          <a:noFill/>
          <a:ln w="19050">
            <a:solidFill>
              <a:srgbClr val="121212"/>
            </a:solidFill>
            <a:prstDash val="solid"/>
            <a:tailEnd type="triangle"/>
          </a:ln>
        </p:spPr>
      </p:sp>
      <p:sp>
        <p:nvSpPr>
          <p:cNvPr id="12" name="Sequenzfluss"/>
          <p:cNvSpPr/>
          <p:nvPr/>
        </p:nvSpPr>
        <p:spPr>
          <a:xfrm>
            <a:off x="4549140" y="3483864"/>
            <a:ext cx="1028700" cy="0"/>
          </a:xfrm>
          <a:prstGeom prst="line">
            <a:avLst/>
          </a:prstGeom>
          <a:noFill/>
          <a:ln w="19050">
            <a:solidFill>
              <a:srgbClr val="121212"/>
            </a:solidFill>
            <a:prstDash val="solid"/>
            <a:tailEnd type="triangle"/>
          </a:ln>
        </p:spPr>
      </p:sp>
      <p:sp>
        <p:nvSpPr>
          <p:cNvPr id="13" name="Aufgabe Automatische Freigabe"/>
          <p:cNvSpPr/>
          <p:nvPr/>
        </p:nvSpPr>
        <p:spPr>
          <a:xfrm>
            <a:off x="5577840" y="3154680"/>
            <a:ext cx="3108960" cy="658368"/>
          </a:xfrm>
          <a:prstGeom prst="roundRect">
            <a:avLst>
              <a:gd name="adj" fmla="val 16667"/>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1600" dirty="0">
                <a:solidFill>
                  <a:schemeClr val="tx1"/>
                </a:solidFill>
              </a:rPr>
              <a:t>Automatische Freigabe</a:t>
            </a:r>
            <a:endParaRPr lang="en-US" sz="1600" dirty="0"/>
          </a:p>
        </p:txBody>
      </p:sp>
      <p:sp>
        <p:nvSpPr>
          <p:cNvPr id="14" name="Sequenzfluss"/>
          <p:cNvSpPr/>
          <p:nvPr/>
        </p:nvSpPr>
        <p:spPr>
          <a:xfrm>
            <a:off x="4892040" y="4535424"/>
            <a:ext cx="685800" cy="0"/>
          </a:xfrm>
          <a:prstGeom prst="line">
            <a:avLst/>
          </a:prstGeom>
          <a:noFill/>
          <a:ln w="19050">
            <a:solidFill>
              <a:srgbClr val="121212"/>
            </a:solidFill>
            <a:prstDash val="solid"/>
            <a:tailEnd type="triangle"/>
          </a:ln>
        </p:spPr>
      </p:sp>
      <p:sp>
        <p:nvSpPr>
          <p:cNvPr id="15" name="Aufgabe Ablehnung"/>
          <p:cNvSpPr/>
          <p:nvPr/>
        </p:nvSpPr>
        <p:spPr>
          <a:xfrm>
            <a:off x="5577840" y="4206240"/>
            <a:ext cx="3108960" cy="658368"/>
          </a:xfrm>
          <a:prstGeom prst="roundRect">
            <a:avLst>
              <a:gd name="adj" fmla="val 16667"/>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1600" dirty="0">
                <a:solidFill>
                  <a:schemeClr val="tx1"/>
                </a:solidFill>
              </a:rPr>
              <a:t>Ablehnung</a:t>
            </a:r>
            <a:endParaRPr lang="en-US" sz="1600" dirty="0"/>
          </a:p>
        </p:txBody>
      </p:sp>
      <p:sp>
        <p:nvSpPr>
          <p:cNvPr id="16" name="Sequenzfluss"/>
          <p:cNvSpPr/>
          <p:nvPr/>
        </p:nvSpPr>
        <p:spPr>
          <a:xfrm>
            <a:off x="4549140" y="4878324"/>
            <a:ext cx="0" cy="708660"/>
          </a:xfrm>
          <a:prstGeom prst="line">
            <a:avLst/>
          </a:prstGeom>
          <a:noFill/>
          <a:ln w="19050">
            <a:solidFill>
              <a:srgbClr val="121212"/>
            </a:solidFill>
            <a:prstDash val="solid"/>
            <a:tailEnd type="triangle"/>
          </a:ln>
        </p:spPr>
      </p:sp>
      <p:sp>
        <p:nvSpPr>
          <p:cNvPr id="17" name="Sequenzfluss"/>
          <p:cNvSpPr/>
          <p:nvPr/>
        </p:nvSpPr>
        <p:spPr>
          <a:xfrm>
            <a:off x="4549140" y="5586984"/>
            <a:ext cx="1028700" cy="0"/>
          </a:xfrm>
          <a:prstGeom prst="line">
            <a:avLst/>
          </a:prstGeom>
          <a:noFill/>
          <a:ln w="19050">
            <a:solidFill>
              <a:srgbClr val="121212"/>
            </a:solidFill>
            <a:prstDash val="solid"/>
            <a:tailEnd type="triangle"/>
          </a:ln>
        </p:spPr>
      </p:sp>
      <p:sp>
        <p:nvSpPr>
          <p:cNvPr id="18" name="Aufgabe Manuelle Prüfung"/>
          <p:cNvSpPr/>
          <p:nvPr/>
        </p:nvSpPr>
        <p:spPr>
          <a:xfrm>
            <a:off x="5577840" y="5257800"/>
            <a:ext cx="3108960" cy="658368"/>
          </a:xfrm>
          <a:prstGeom prst="roundRect">
            <a:avLst>
              <a:gd name="adj" fmla="val 16667"/>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1600" dirty="0">
                <a:solidFill>
                  <a:schemeClr val="tx1"/>
                </a:solidFill>
              </a:rPr>
              <a:t>Manuelle Prüfung</a:t>
            </a:r>
            <a:endParaRPr lang="en-US" sz="1600" dirty="0"/>
          </a:p>
        </p:txBody>
      </p:sp>
      <p:sp>
        <p:nvSpPr>
          <p:cNvPr id="25" name="Slide Number Placeholder 0"/>
          <p:cNvSpPr>
            <a:spLocks noGrp="1"/>
          </p:cNvSpPr>
          <p:nvPr>
            <p:ph type="sldNum" sz="quarter" idx="4294967295"/>
          </p:nvPr>
        </p:nvSpPr>
        <p:spPr>
          <a:xfrm>
            <a:off x="11094415"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7575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000" b="1" dirty="0">
                <a:solidFill>
                  <a:schemeClr val="tx1"/>
                </a:solidFill>
              </a:rPr>
              <a:t>Der Prozess (BPMN)</a:t>
            </a:r>
            <a:endParaRPr lang="en-US" sz="3000" dirty="0"/>
          </a:p>
        </p:txBody>
      </p:sp>
      <p:pic>
        <p:nvPicPr>
          <p:cNvPr id="3" name="BPMN-Diagramm" descr="BPMN-Prozess: Prüfung nach Regeln, Prüfung mit LLM, manuelle Prüfung, Freigabe oder Ablehnung">    </p:cNvPr>
          <p:cNvPicPr>
            <a:picLocks noChangeAspect="1"/>
          </p:cNvPicPr>
          <p:nvPr/>
        </p:nvPicPr>
        <p:blipFill>
          <a:blip r:embed="rId1"/>
          <a:stretch>
            <a:fillRect/>
          </a:stretch>
        </p:blipFill>
        <p:spPr>
          <a:xfrm>
            <a:off x="548640" y="2018950"/>
            <a:ext cx="11094415" cy="3460181"/>
          </a:xfrm>
          <a:prstGeom prst="rect">
            <a:avLst/>
          </a:prstGeom>
        </p:spPr>
      </p:pic>
      <p:sp>
        <p:nvSpPr>
          <p:cNvPr id="25" name="Slide Number Placeholder 0"/>
          <p:cNvSpPr>
            <a:spLocks noGrp="1"/>
          </p:cNvSpPr>
          <p:nvPr>
            <p:ph type="sldNum" sz="quarter" idx="4294967295"/>
          </p:nvPr>
        </p:nvSpPr>
        <p:spPr>
          <a:xfrm>
            <a:off x="11094415"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7575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000" b="1" dirty="0">
                <a:solidFill>
                  <a:schemeClr val="tx1"/>
                </a:solidFill>
              </a:rPr>
              <a:t>Die Regeln (DMN)</a:t>
            </a:r>
            <a:endParaRPr lang="en-US" sz="3000" dirty="0"/>
          </a:p>
        </p:txBody>
      </p:sp>
      <p:graphicFrame>
        <p:nvGraphicFramePr>
          <p:cNvPr id="6" name="Regeltabelle"/>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280160"/>
                <a:gridCol w="6766560"/>
                <a:gridCol w="3047695"/>
              </a:tblGrid>
              <a:tr h="658368">
                <a:tc>
                  <a:txBody>
                    <a:bodyPr/>
                    <a:lstStyle/>
                    <a:p>
                      <a:pPr indent="0" marL="0">
                        <a:buNone/>
                      </a:pPr>
                      <a:r>
                        <a:rPr lang="en-US" sz="1800" b="1" dirty="0">
                          <a:solidFill>
                            <a:schemeClr val="tx1"/>
                          </a:solidFill>
                        </a:rPr>
                        <a:t>Regel</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solidFill>
                      <a:srgbClr val="F4F4F4"/>
                    </a:solidFill>
                  </a:tcPr>
                </a:tc>
                <a:tc>
                  <a:txBody>
                    <a:bodyPr/>
                    <a:lstStyle/>
                    <a:p>
                      <a:pPr indent="0" marL="0">
                        <a:buNone/>
                      </a:pPr>
                      <a:r>
                        <a:rPr lang="en-US" sz="1800" b="1" dirty="0">
                          <a:solidFill>
                            <a:schemeClr val="tx1"/>
                          </a:solidFill>
                        </a:rPr>
                        <a:t>Bedingung</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solidFill>
                      <a:srgbClr val="F4F4F4"/>
                    </a:solidFill>
                  </a:tcPr>
                </a:tc>
                <a:tc>
                  <a:txBody>
                    <a:bodyPr/>
                    <a:lstStyle/>
                    <a:p>
                      <a:pPr indent="0" marL="0">
                        <a:buNone/>
                      </a:pPr>
                      <a:r>
                        <a:rPr lang="en-US" sz="1800" b="1" dirty="0">
                          <a:solidFill>
                            <a:schemeClr val="tx1"/>
                          </a:solidFill>
                        </a:rPr>
                        <a:t>Folge</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solidFill>
                      <a:srgbClr val="F4F4F4"/>
                    </a:solidFill>
                  </a:tcPr>
                </a:tc>
              </a:tr>
              <a:tr h="658368">
                <a:tc>
                  <a:txBody>
                    <a:bodyPr/>
                    <a:lstStyle/>
                    <a:p>
                      <a:pPr indent="0" marL="0">
                        <a:buNone/>
                      </a:pPr>
                      <a:r>
                        <a:rPr lang="en-US" sz="1800" b="1" dirty="0">
                          <a:solidFill>
                            <a:schemeClr val="tx1"/>
                          </a:solidFill>
                        </a:rPr>
                        <a:t>R1</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c>
                  <a:txBody>
                    <a:bodyPr/>
                    <a:lstStyle/>
                    <a:p>
                      <a:pPr indent="0" marL="0">
                        <a:buNone/>
                      </a:pPr>
                      <a:r>
                        <a:rPr lang="en-US" sz="1800" dirty="0">
                          <a:solidFill>
                            <a:schemeClr val="tx1"/>
                          </a:solidFill>
                        </a:rPr>
                        <a:t>Kunde nicht selbst wirtschaftlich berechtigt</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c>
                  <a:txBody>
                    <a:bodyPr/>
                    <a:lstStyle/>
                    <a:p>
                      <a:pPr indent="0" marL="0">
                        <a:buNone/>
                      </a:pPr>
                      <a:r>
                        <a:rPr lang="en-US" sz="1800" dirty="0">
                          <a:solidFill>
                            <a:schemeClr val="tx1"/>
                          </a:solidFill>
                        </a:rPr>
                        <a:t>manuelle Prüfung</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r>
              <a:tr h="658368">
                <a:tc>
                  <a:txBody>
                    <a:bodyPr/>
                    <a:lstStyle/>
                    <a:p>
                      <a:pPr indent="0" marL="0">
                        <a:buNone/>
                      </a:pPr>
                      <a:r>
                        <a:rPr lang="en-US" sz="1800" b="1" dirty="0">
                          <a:solidFill>
                            <a:schemeClr val="tx1"/>
                          </a:solidFill>
                        </a:rPr>
                        <a:t>R2</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c>
                  <a:txBody>
                    <a:bodyPr/>
                    <a:lstStyle/>
                    <a:p>
                      <a:pPr indent="0" marL="0">
                        <a:buNone/>
                      </a:pPr>
                      <a:r>
                        <a:rPr lang="en-US" sz="1800" dirty="0">
                          <a:solidFill>
                            <a:schemeClr val="tx1"/>
                          </a:solidFill>
                        </a:rPr>
                        <a:t>PEP-Status bestätigt</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c>
                  <a:txBody>
                    <a:bodyPr/>
                    <a:lstStyle/>
                    <a:p>
                      <a:pPr indent="0" marL="0">
                        <a:buNone/>
                      </a:pPr>
                      <a:r>
                        <a:rPr lang="en-US" sz="1800" dirty="0">
                          <a:solidFill>
                            <a:schemeClr val="tx1"/>
                          </a:solidFill>
                        </a:rPr>
                        <a:t>manuelle Prüfung</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r>
              <a:tr h="658368">
                <a:tc>
                  <a:txBody>
                    <a:bodyPr/>
                    <a:lstStyle/>
                    <a:p>
                      <a:pPr indent="0" marL="0">
                        <a:buNone/>
                      </a:pPr>
                      <a:r>
                        <a:rPr lang="en-US" sz="1800" b="1" dirty="0">
                          <a:solidFill>
                            <a:schemeClr val="tx1"/>
                          </a:solidFill>
                        </a:rPr>
                        <a:t>R3</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c>
                  <a:txBody>
                    <a:bodyPr/>
                    <a:lstStyle/>
                    <a:p>
                      <a:pPr indent="0" marL="0">
                        <a:buNone/>
                      </a:pPr>
                      <a:r>
                        <a:rPr lang="en-US" sz="1800" dirty="0">
                          <a:solidFill>
                            <a:schemeClr val="tx1"/>
                          </a:solidFill>
                        </a:rPr>
                        <a:t>Möglicher Screening-Treffer ungeklärt</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c>
                  <a:txBody>
                    <a:bodyPr/>
                    <a:lstStyle/>
                    <a:p>
                      <a:pPr indent="0" marL="0">
                        <a:buNone/>
                      </a:pPr>
                      <a:r>
                        <a:rPr lang="en-US" sz="1800" dirty="0">
                          <a:solidFill>
                            <a:schemeClr val="tx1"/>
                          </a:solidFill>
                        </a:rPr>
                        <a:t>manuelle Prüfung</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r>
              <a:tr h="658368">
                <a:tc>
                  <a:txBody>
                    <a:bodyPr/>
                    <a:lstStyle/>
                    <a:p>
                      <a:pPr indent="0" marL="0">
                        <a:buNone/>
                      </a:pPr>
                      <a:r>
                        <a:rPr lang="en-US" sz="1800" b="1" dirty="0">
                          <a:solidFill>
                            <a:schemeClr val="tx1"/>
                          </a:solidFill>
                        </a:rPr>
                        <a:t>R4</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c>
                  <a:txBody>
                    <a:bodyPr/>
                    <a:lstStyle/>
                    <a:p>
                      <a:pPr indent="0" marL="0">
                        <a:buNone/>
                      </a:pPr>
                      <a:r>
                        <a:rPr lang="en-US" sz="1800" dirty="0">
                          <a:solidFill>
                            <a:schemeClr val="tx1"/>
                          </a:solidFill>
                        </a:rPr>
                        <a:t>USA-Bezug</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c>
                  <a:txBody>
                    <a:bodyPr/>
                    <a:lstStyle/>
                    <a:p>
                      <a:pPr indent="0" marL="0">
                        <a:buNone/>
                      </a:pPr>
                      <a:r>
                        <a:rPr lang="en-US" sz="1800" dirty="0">
                          <a:solidFill>
                            <a:schemeClr val="tx1"/>
                          </a:solidFill>
                        </a:rPr>
                        <a:t>manuelle Prüfung</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r>
              <a:tr h="658368">
                <a:tc>
                  <a:txBody>
                    <a:bodyPr/>
                    <a:lstStyle/>
                    <a:p>
                      <a:pPr indent="0" marL="0">
                        <a:buNone/>
                      </a:pPr>
                      <a:r>
                        <a:rPr lang="en-US" sz="1800" b="1" dirty="0">
                          <a:solidFill>
                            <a:schemeClr val="tx1"/>
                          </a:solidFill>
                        </a:rPr>
                        <a:t>R5</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c>
                  <a:txBody>
                    <a:bodyPr/>
                    <a:lstStyle/>
                    <a:p>
                      <a:pPr indent="0" marL="0">
                        <a:buNone/>
                      </a:pPr>
                      <a:r>
                        <a:rPr lang="en-US" sz="1800" dirty="0">
                          <a:solidFill>
                            <a:schemeClr val="tx1"/>
                          </a:solidFill>
                        </a:rPr>
                        <a:t>Bestätigter Sanktionstreffer</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c>
                  <a:txBody>
                    <a:bodyPr/>
                    <a:lstStyle/>
                    <a:p>
                      <a:pPr indent="0" marL="0">
                        <a:buNone/>
                      </a:pPr>
                      <a:r>
                        <a:rPr lang="en-US" sz="1800" b="1" dirty="0">
                          <a:solidFill>
                            <a:schemeClr val="tx1"/>
                          </a:solidFill>
                        </a:rPr>
                        <a:t>Ablehnung</a:t>
                      </a:r>
                      <a:endParaRPr lang="en-US" sz="1800" dirty="0"/>
                    </a:p>
                  </a:txBody>
                  <a:tcPr marL="137160" marR="137160" marT="0" marB="0" anchor="ctr">
                    <a:lnL w="12700" cap="flat" cmpd="sng" algn="ctr">
                      <a:solidFill>
                        <a:srgbClr val="C8C8C8"/>
                      </a:solidFill>
                      <a:prstDash val="solid"/>
                      <a:round/>
                      <a:headEnd type="none" w="med" len="med"/>
                      <a:tailEnd type="none" w="med" len="med"/>
                    </a:lnL>
                    <a:lnR w="12700" cap="flat" cmpd="sng" algn="ctr">
                      <a:solidFill>
                        <a:srgbClr val="C8C8C8"/>
                      </a:solidFill>
                      <a:prstDash val="solid"/>
                      <a:round/>
                      <a:headEnd type="none" w="med" len="med"/>
                      <a:tailEnd type="none" w="med" len="med"/>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7575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000" b="1" dirty="0">
                <a:solidFill>
                  <a:schemeClr val="tx1"/>
                </a:solidFill>
              </a:rPr>
              <a:t>Am Anfang steht ein Datensatz</a:t>
            </a:r>
            <a:endParaRPr lang="en-US" sz="3000" dirty="0"/>
          </a:p>
        </p:txBody>
      </p:sp>
      <p:sp>
        <p:nvSpPr>
          <p:cNvPr id="3" name="Kennzahl synthetische Anträge"/>
          <p:cNvSpPr/>
          <p:nvPr/>
        </p:nvSpPr>
        <p:spPr>
          <a:xfrm>
            <a:off x="548640" y="1920240"/>
            <a:ext cx="2499284" cy="2377440"/>
          </a:xfrm>
          <a:prstGeom prst="roundRect">
            <a:avLst>
              <a:gd name="adj" fmla="val 4615"/>
            </a:avLst>
          </a:prstGeom>
          <a:solidFill>
            <a:srgbClr val="F4F4F4"/>
          </a:solidFill>
          <a:ln w="19050">
            <a:solidFill>
              <a:srgbClr val="121212"/>
            </a:solidFill>
            <a:prstDash val="solid"/>
          </a:ln>
        </p:spPr>
      </p:sp>
      <p:sp>
        <p:nvSpPr>
          <p:cNvPr id="4" name="Zahl synthetische Anträge"/>
          <p:cNvSpPr txBox="1"/>
          <p:nvPr/>
        </p:nvSpPr>
        <p:spPr>
          <a:xfrm>
            <a:off x="548640" y="2240280"/>
            <a:ext cx="2499284" cy="1005840"/>
          </a:xfrm>
          <a:prstGeom prst="rect">
            <a:avLst/>
          </a:prstGeom>
          <a:noFill/>
          <a:ln/>
        </p:spPr>
        <p:txBody>
          <a:bodyPr wrap="square" lIns="0" tIns="0" rIns="0" bIns="0" rtlCol="0" anchor="ctr"/>
          <a:lstStyle/>
          <a:p>
            <a:pPr algn="ctr" indent="0" marL="0">
              <a:buNone/>
            </a:pPr>
            <a:r>
              <a:rPr lang="en-US" sz="4400" b="1" dirty="0">
                <a:solidFill>
                  <a:schemeClr val="tx1"/>
                </a:solidFill>
              </a:rPr>
              <a:t>6.000</a:t>
            </a:r>
            <a:endParaRPr lang="en-US" sz="4400" dirty="0"/>
          </a:p>
        </p:txBody>
      </p:sp>
      <p:sp>
        <p:nvSpPr>
          <p:cNvPr id="5" name="Beschriftung synthetische Anträge"/>
          <p:cNvSpPr txBox="1"/>
          <p:nvPr/>
        </p:nvSpPr>
        <p:spPr>
          <a:xfrm>
            <a:off x="548640" y="3337560"/>
            <a:ext cx="2499284" cy="640080"/>
          </a:xfrm>
          <a:prstGeom prst="rect">
            <a:avLst/>
          </a:prstGeom>
          <a:noFill/>
          <a:ln/>
        </p:spPr>
        <p:txBody>
          <a:bodyPr wrap="square" lIns="76200" tIns="76200" rIns="76200" bIns="76200" rtlCol="0" anchor="t"/>
          <a:lstStyle/>
          <a:p>
            <a:pPr algn="ctr" indent="0" marL="0">
              <a:buNone/>
            </a:pPr>
            <a:r>
              <a:rPr lang="en-US" sz="1600" dirty="0">
                <a:solidFill>
                  <a:schemeClr val="tx1"/>
                </a:solidFill>
              </a:rPr>
              <a:t>synthetische Anträge</a:t>
            </a:r>
            <a:endParaRPr lang="en-US" sz="1600" dirty="0"/>
          </a:p>
        </p:txBody>
      </p:sp>
      <p:sp>
        <p:nvSpPr>
          <p:cNvPr id="6" name="Kennzahl Training"/>
          <p:cNvSpPr/>
          <p:nvPr/>
        </p:nvSpPr>
        <p:spPr>
          <a:xfrm>
            <a:off x="3413684" y="1920240"/>
            <a:ext cx="2499284" cy="2377440"/>
          </a:xfrm>
          <a:prstGeom prst="roundRect">
            <a:avLst>
              <a:gd name="adj" fmla="val 4615"/>
            </a:avLst>
          </a:prstGeom>
          <a:solidFill>
            <a:srgbClr val="FFFFFF"/>
          </a:solidFill>
          <a:ln w="19050">
            <a:solidFill>
              <a:srgbClr val="121212"/>
            </a:solidFill>
            <a:prstDash val="solid"/>
          </a:ln>
        </p:spPr>
      </p:sp>
      <p:sp>
        <p:nvSpPr>
          <p:cNvPr id="7" name="Zahl Training"/>
          <p:cNvSpPr txBox="1"/>
          <p:nvPr/>
        </p:nvSpPr>
        <p:spPr>
          <a:xfrm>
            <a:off x="3413684" y="2240280"/>
            <a:ext cx="2499284" cy="1005840"/>
          </a:xfrm>
          <a:prstGeom prst="rect">
            <a:avLst/>
          </a:prstGeom>
          <a:noFill/>
          <a:ln/>
        </p:spPr>
        <p:txBody>
          <a:bodyPr wrap="square" lIns="0" tIns="0" rIns="0" bIns="0" rtlCol="0" anchor="ctr"/>
          <a:lstStyle/>
          <a:p>
            <a:pPr algn="ctr" indent="0" marL="0">
              <a:buNone/>
            </a:pPr>
            <a:r>
              <a:rPr lang="en-US" sz="4400" b="1" dirty="0">
                <a:solidFill>
                  <a:schemeClr val="tx1"/>
                </a:solidFill>
              </a:rPr>
              <a:t>4.781</a:t>
            </a:r>
            <a:endParaRPr lang="en-US" sz="4400" dirty="0"/>
          </a:p>
        </p:txBody>
      </p:sp>
      <p:sp>
        <p:nvSpPr>
          <p:cNvPr id="8" name="Beschriftung Training"/>
          <p:cNvSpPr txBox="1"/>
          <p:nvPr/>
        </p:nvSpPr>
        <p:spPr>
          <a:xfrm>
            <a:off x="3413684" y="3337560"/>
            <a:ext cx="2499284" cy="640080"/>
          </a:xfrm>
          <a:prstGeom prst="rect">
            <a:avLst/>
          </a:prstGeom>
          <a:noFill/>
          <a:ln/>
        </p:spPr>
        <p:txBody>
          <a:bodyPr wrap="square" lIns="76200" tIns="76200" rIns="76200" bIns="76200" rtlCol="0" anchor="t"/>
          <a:lstStyle/>
          <a:p>
            <a:pPr algn="ctr" indent="0" marL="0">
              <a:buNone/>
            </a:pPr>
            <a:r>
              <a:rPr lang="en-US" sz="1600" dirty="0">
                <a:solidFill>
                  <a:schemeClr val="tx1"/>
                </a:solidFill>
              </a:rPr>
              <a:t>Training</a:t>
            </a:r>
            <a:endParaRPr lang="en-US" sz="1600" dirty="0"/>
          </a:p>
        </p:txBody>
      </p:sp>
      <p:sp>
        <p:nvSpPr>
          <p:cNvPr id="9" name="Kennzahl Validierung"/>
          <p:cNvSpPr/>
          <p:nvPr/>
        </p:nvSpPr>
        <p:spPr>
          <a:xfrm>
            <a:off x="6278728" y="1920240"/>
            <a:ext cx="2499284" cy="2377440"/>
          </a:xfrm>
          <a:prstGeom prst="roundRect">
            <a:avLst>
              <a:gd name="adj" fmla="val 4615"/>
            </a:avLst>
          </a:prstGeom>
          <a:solidFill>
            <a:srgbClr val="FFFFFF"/>
          </a:solidFill>
          <a:ln w="19050">
            <a:solidFill>
              <a:srgbClr val="121212"/>
            </a:solidFill>
            <a:prstDash val="solid"/>
          </a:ln>
        </p:spPr>
      </p:sp>
      <p:sp>
        <p:nvSpPr>
          <p:cNvPr id="10" name="Zahl Validierung"/>
          <p:cNvSpPr txBox="1"/>
          <p:nvPr/>
        </p:nvSpPr>
        <p:spPr>
          <a:xfrm>
            <a:off x="6278728" y="2240280"/>
            <a:ext cx="2499284" cy="1005840"/>
          </a:xfrm>
          <a:prstGeom prst="rect">
            <a:avLst/>
          </a:prstGeom>
          <a:noFill/>
          <a:ln/>
        </p:spPr>
        <p:txBody>
          <a:bodyPr wrap="square" lIns="0" tIns="0" rIns="0" bIns="0" rtlCol="0" anchor="ctr"/>
          <a:lstStyle/>
          <a:p>
            <a:pPr algn="ctr" indent="0" marL="0">
              <a:buNone/>
            </a:pPr>
            <a:r>
              <a:rPr lang="en-US" sz="4400" b="1" dirty="0">
                <a:solidFill>
                  <a:schemeClr val="tx1"/>
                </a:solidFill>
              </a:rPr>
              <a:t>598</a:t>
            </a:r>
            <a:endParaRPr lang="en-US" sz="4400" dirty="0"/>
          </a:p>
        </p:txBody>
      </p:sp>
      <p:sp>
        <p:nvSpPr>
          <p:cNvPr id="11" name="Beschriftung Validierung"/>
          <p:cNvSpPr txBox="1"/>
          <p:nvPr/>
        </p:nvSpPr>
        <p:spPr>
          <a:xfrm>
            <a:off x="6278728" y="3337560"/>
            <a:ext cx="2499284" cy="640080"/>
          </a:xfrm>
          <a:prstGeom prst="rect">
            <a:avLst/>
          </a:prstGeom>
          <a:noFill/>
          <a:ln/>
        </p:spPr>
        <p:txBody>
          <a:bodyPr wrap="square" lIns="76200" tIns="76200" rIns="76200" bIns="76200" rtlCol="0" anchor="t"/>
          <a:lstStyle/>
          <a:p>
            <a:pPr algn="ctr" indent="0" marL="0">
              <a:buNone/>
            </a:pPr>
            <a:r>
              <a:rPr lang="en-US" sz="1600" dirty="0">
                <a:solidFill>
                  <a:schemeClr val="tx1"/>
                </a:solidFill>
              </a:rPr>
              <a:t>Validierung</a:t>
            </a:r>
            <a:endParaRPr lang="en-US" sz="1600" dirty="0"/>
          </a:p>
        </p:txBody>
      </p:sp>
      <p:sp>
        <p:nvSpPr>
          <p:cNvPr id="12" name="Kennzahl Test"/>
          <p:cNvSpPr/>
          <p:nvPr/>
        </p:nvSpPr>
        <p:spPr>
          <a:xfrm>
            <a:off x="9143771" y="1920240"/>
            <a:ext cx="2499284" cy="2377440"/>
          </a:xfrm>
          <a:prstGeom prst="roundRect">
            <a:avLst>
              <a:gd name="adj" fmla="val 4615"/>
            </a:avLst>
          </a:prstGeom>
          <a:solidFill>
            <a:srgbClr val="FFFFFF"/>
          </a:solidFill>
          <a:ln w="19050">
            <a:solidFill>
              <a:srgbClr val="121212"/>
            </a:solidFill>
            <a:prstDash val="solid"/>
          </a:ln>
        </p:spPr>
      </p:sp>
      <p:sp>
        <p:nvSpPr>
          <p:cNvPr id="13" name="Zahl Test"/>
          <p:cNvSpPr txBox="1"/>
          <p:nvPr/>
        </p:nvSpPr>
        <p:spPr>
          <a:xfrm>
            <a:off x="9143771" y="2240280"/>
            <a:ext cx="2499284" cy="1005840"/>
          </a:xfrm>
          <a:prstGeom prst="rect">
            <a:avLst/>
          </a:prstGeom>
          <a:noFill/>
          <a:ln/>
        </p:spPr>
        <p:txBody>
          <a:bodyPr wrap="square" lIns="0" tIns="0" rIns="0" bIns="0" rtlCol="0" anchor="ctr"/>
          <a:lstStyle/>
          <a:p>
            <a:pPr algn="ctr" indent="0" marL="0">
              <a:buNone/>
            </a:pPr>
            <a:r>
              <a:rPr lang="en-US" sz="4400" b="1" dirty="0">
                <a:solidFill>
                  <a:schemeClr val="tx1"/>
                </a:solidFill>
              </a:rPr>
              <a:t>621</a:t>
            </a:r>
            <a:endParaRPr lang="en-US" sz="4400" dirty="0"/>
          </a:p>
        </p:txBody>
      </p:sp>
      <p:sp>
        <p:nvSpPr>
          <p:cNvPr id="14" name="Beschriftung Test"/>
          <p:cNvSpPr txBox="1"/>
          <p:nvPr/>
        </p:nvSpPr>
        <p:spPr>
          <a:xfrm>
            <a:off x="9143771" y="3337560"/>
            <a:ext cx="2499284" cy="640080"/>
          </a:xfrm>
          <a:prstGeom prst="rect">
            <a:avLst/>
          </a:prstGeom>
          <a:noFill/>
          <a:ln/>
        </p:spPr>
        <p:txBody>
          <a:bodyPr wrap="square" lIns="76200" tIns="76200" rIns="76200" bIns="76200" rtlCol="0" anchor="t"/>
          <a:lstStyle/>
          <a:p>
            <a:pPr algn="ctr" indent="0" marL="0">
              <a:buNone/>
            </a:pPr>
            <a:r>
              <a:rPr lang="en-US" sz="1600" dirty="0">
                <a:solidFill>
                  <a:schemeClr val="tx1"/>
                </a:solidFill>
              </a:rPr>
              <a:t>Test</a:t>
            </a:r>
            <a:endParaRPr lang="en-US" sz="1600" dirty="0"/>
          </a:p>
        </p:txBody>
      </p:sp>
      <p:sp>
        <p:nvSpPr>
          <p:cNvPr id="15" name="Hinweis Datensatz"/>
          <p:cNvSpPr txBox="1"/>
          <p:nvPr/>
        </p:nvSpPr>
        <p:spPr>
          <a:xfrm>
            <a:off x="548640" y="4754880"/>
            <a:ext cx="11094415" cy="457200"/>
          </a:xfrm>
          <a:prstGeom prst="rect">
            <a:avLst/>
          </a:prstGeom>
          <a:noFill/>
          <a:ln/>
        </p:spPr>
        <p:txBody>
          <a:bodyPr wrap="square" lIns="0" tIns="0" rIns="0" bIns="0" rtlCol="0" anchor="ctr"/>
          <a:lstStyle/>
          <a:p>
            <a:pPr indent="0" marL="0">
              <a:buNone/>
            </a:pPr>
            <a:r>
              <a:rPr lang="en-US" sz="1400" dirty="0">
                <a:solidFill>
                  <a:srgbClr val="757575"/>
                </a:solidFill>
              </a:rPr>
              <a:t>Fälle mit bekannter Sollentscheidung · Familien getrennt nach Split · Texte aus Vorlagen</a:t>
            </a:r>
            <a:endParaRPr lang="en-US" sz="1400" dirty="0"/>
          </a:p>
        </p:txBody>
      </p:sp>
      <p:sp>
        <p:nvSpPr>
          <p:cNvPr id="25" name="Slide Number Placeholder 0"/>
          <p:cNvSpPr>
            <a:spLocks noGrp="1"/>
          </p:cNvSpPr>
          <p:nvPr>
            <p:ph type="sldNum" sz="quarter" idx="4294967295"/>
          </p:nvPr>
        </p:nvSpPr>
        <p:spPr>
          <a:xfrm>
            <a:off x="11094415"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7575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000" b="1" dirty="0">
                <a:solidFill>
                  <a:schemeClr val="tx1"/>
                </a:solidFill>
              </a:rPr>
              <a:t>Das Modell: Laya Multilingual</a:t>
            </a:r>
            <a:endParaRPr lang="en-US" sz="3000" dirty="0"/>
          </a:p>
        </p:txBody>
      </p:sp>
      <p:sp>
        <p:nvSpPr>
          <p:cNvPr id="3" name="Parameterzahl"/>
          <p:cNvSpPr txBox="1"/>
          <p:nvPr/>
        </p:nvSpPr>
        <p:spPr>
          <a:xfrm>
            <a:off x="548640" y="2011680"/>
            <a:ext cx="3840480" cy="1097280"/>
          </a:xfrm>
          <a:prstGeom prst="rect">
            <a:avLst/>
          </a:prstGeom>
          <a:noFill/>
          <a:ln/>
        </p:spPr>
        <p:txBody>
          <a:bodyPr wrap="square" lIns="0" tIns="0" rIns="0" bIns="0" rtlCol="0" anchor="ctr"/>
          <a:lstStyle/>
          <a:p>
            <a:pPr indent="0" marL="0">
              <a:buNone/>
            </a:pPr>
            <a:r>
              <a:rPr lang="en-US" sz="6000" b="1" dirty="0">
                <a:solidFill>
                  <a:schemeClr val="tx1"/>
                </a:solidFill>
              </a:rPr>
              <a:t>322 Mio.</a:t>
            </a:r>
            <a:endParaRPr lang="en-US" sz="6000" dirty="0"/>
          </a:p>
        </p:txBody>
      </p:sp>
      <p:sp>
        <p:nvSpPr>
          <p:cNvPr id="4" name="Beschriftung Parameter"/>
          <p:cNvSpPr txBox="1"/>
          <p:nvPr/>
        </p:nvSpPr>
        <p:spPr>
          <a:xfrm>
            <a:off x="548640" y="3108960"/>
            <a:ext cx="3840480" cy="457200"/>
          </a:xfrm>
          <a:prstGeom prst="rect">
            <a:avLst/>
          </a:prstGeom>
          <a:noFill/>
          <a:ln/>
        </p:spPr>
        <p:txBody>
          <a:bodyPr wrap="square" lIns="0" tIns="0" rIns="0" bIns="0" rtlCol="0" anchor="ctr"/>
          <a:lstStyle/>
          <a:p>
            <a:pPr indent="0" marL="0">
              <a:buNone/>
            </a:pPr>
            <a:r>
              <a:rPr lang="en-US" sz="1600" dirty="0">
                <a:solidFill>
                  <a:srgbClr val="757575"/>
                </a:solidFill>
              </a:rPr>
              <a:t>Parameter · Apache-2.0</a:t>
            </a:r>
            <a:endParaRPr lang="en-US" sz="1600" dirty="0"/>
          </a:p>
        </p:txBody>
      </p:sp>
      <p:sp>
        <p:nvSpPr>
          <p:cNvPr id="5" name="Aufgabe Entscheidungsmodell stat"/>
          <p:cNvSpPr/>
          <p:nvPr/>
        </p:nvSpPr>
        <p:spPr>
          <a:xfrm>
            <a:off x="5120640" y="1600200"/>
            <a:ext cx="6522415" cy="868680"/>
          </a:xfrm>
          <a:prstGeom prst="roundRect">
            <a:avLst>
              <a:gd name="adj" fmla="val 12632"/>
            </a:avLst>
          </a:prstGeom>
          <a:solidFill>
            <a:srgbClr val="FFFFFF"/>
          </a:solidFill>
          <a:ln w="19050">
            <a:solidFill>
              <a:srgbClr val="121212"/>
            </a:solidFill>
          </a:ln>
        </p:spPr>
        <p:txBody>
          <a:bodyPr wrap="square" lIns="127000" tIns="127000" rIns="127000" bIns="127000" rtlCol="0" anchor="ctr"/>
          <a:lstStyle/>
          <a:p>
            <a:pPr algn="l" indent="0" marL="0">
              <a:buNone/>
            </a:pPr>
            <a:r>
              <a:rPr lang="en-US" sz="1800" dirty="0">
                <a:solidFill>
                  <a:schemeClr val="tx1"/>
                </a:solidFill>
              </a:rPr>
              <a:t>Entscheidungsmodell statt Chatbot</a:t>
            </a:r>
            <a:endParaRPr lang="en-US" sz="1800" dirty="0"/>
          </a:p>
        </p:txBody>
      </p:sp>
      <p:sp>
        <p:nvSpPr>
          <p:cNvPr id="6" name="Aufgabe Lokal trainiert"/>
          <p:cNvSpPr/>
          <p:nvPr/>
        </p:nvSpPr>
        <p:spPr>
          <a:xfrm>
            <a:off x="5120640" y="2834640"/>
            <a:ext cx="6522415" cy="868680"/>
          </a:xfrm>
          <a:prstGeom prst="roundRect">
            <a:avLst>
              <a:gd name="adj" fmla="val 12632"/>
            </a:avLst>
          </a:prstGeom>
          <a:solidFill>
            <a:srgbClr val="FFFFFF"/>
          </a:solidFill>
          <a:ln w="19050">
            <a:solidFill>
              <a:srgbClr val="121212"/>
            </a:solidFill>
          </a:ln>
        </p:spPr>
        <p:txBody>
          <a:bodyPr wrap="square" lIns="127000" tIns="127000" rIns="127000" bIns="127000" rtlCol="0" anchor="ctr"/>
          <a:lstStyle/>
          <a:p>
            <a:pPr algn="l" indent="0" marL="0">
              <a:buNone/>
            </a:pPr>
            <a:r>
              <a:rPr lang="en-US" sz="1800" dirty="0">
                <a:solidFill>
                  <a:schemeClr val="tx1"/>
                </a:solidFill>
              </a:rPr>
              <a:t>Lokal trainiert</a:t>
            </a:r>
            <a:endParaRPr lang="en-US" sz="1800" dirty="0"/>
          </a:p>
        </p:txBody>
      </p:sp>
      <p:sp>
        <p:nvSpPr>
          <p:cNvPr id="7" name="Aufgabe Weitere Modelle möglich"/>
          <p:cNvSpPr/>
          <p:nvPr/>
        </p:nvSpPr>
        <p:spPr>
          <a:xfrm>
            <a:off x="5120640" y="4069080"/>
            <a:ext cx="6522415" cy="868680"/>
          </a:xfrm>
          <a:prstGeom prst="roundRect">
            <a:avLst>
              <a:gd name="adj" fmla="val 12632"/>
            </a:avLst>
          </a:prstGeom>
          <a:solidFill>
            <a:srgbClr val="FFFFFF"/>
          </a:solidFill>
          <a:ln w="19050">
            <a:solidFill>
              <a:srgbClr val="121212"/>
            </a:solidFill>
          </a:ln>
        </p:spPr>
        <p:txBody>
          <a:bodyPr wrap="square" lIns="127000" tIns="127000" rIns="127000" bIns="127000" rtlCol="0" anchor="ctr"/>
          <a:lstStyle/>
          <a:p>
            <a:pPr algn="l" indent="0" marL="0">
              <a:buNone/>
            </a:pPr>
            <a:r>
              <a:rPr lang="en-US" sz="1800" dirty="0">
                <a:solidFill>
                  <a:schemeClr val="tx1"/>
                </a:solidFill>
              </a:rPr>
              <a:t>Weitere Modelle möglich</a:t>
            </a:r>
            <a:endParaRPr lang="en-US" sz="1800" dirty="0"/>
          </a:p>
        </p:txBody>
      </p:sp>
      <p:sp>
        <p:nvSpPr>
          <p:cNvPr id="25" name="Slide Number Placeholder 0"/>
          <p:cNvSpPr>
            <a:spLocks noGrp="1"/>
          </p:cNvSpPr>
          <p:nvPr>
            <p:ph type="sldNum" sz="quarter" idx="4294967295"/>
          </p:nvPr>
        </p:nvSpPr>
        <p:spPr>
          <a:xfrm>
            <a:off x="11094415"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7575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000" b="1" dirty="0">
                <a:solidFill>
                  <a:schemeClr val="tx1"/>
                </a:solidFill>
              </a:rPr>
              <a:t>Anlernen – und jederzeit wiederholen</a:t>
            </a:r>
            <a:endParaRPr lang="en-US" sz="3000" dirty="0"/>
          </a:p>
        </p:txBody>
      </p:sp>
      <p:sp>
        <p:nvSpPr>
          <p:cNvPr id="3" name="Trainingsdauer 5.000"/>
          <p:cNvSpPr/>
          <p:nvPr/>
        </p:nvSpPr>
        <p:spPr>
          <a:xfrm>
            <a:off x="548640" y="1417320"/>
            <a:ext cx="2533574" cy="2011680"/>
          </a:xfrm>
          <a:prstGeom prst="roundRect">
            <a:avLst>
              <a:gd name="adj" fmla="val 5455"/>
            </a:avLst>
          </a:prstGeom>
          <a:solidFill>
            <a:srgbClr val="F4F4F4"/>
          </a:solidFill>
          <a:ln w="19050">
            <a:solidFill>
              <a:srgbClr val="121212"/>
            </a:solidFill>
            <a:prstDash val="solid"/>
          </a:ln>
        </p:spPr>
      </p:sp>
      <p:sp>
        <p:nvSpPr>
          <p:cNvPr id="4" name="Datensätze 5.000"/>
          <p:cNvSpPr txBox="1"/>
          <p:nvPr/>
        </p:nvSpPr>
        <p:spPr>
          <a:xfrm>
            <a:off x="548640" y="1600200"/>
            <a:ext cx="2533574" cy="777240"/>
          </a:xfrm>
          <a:prstGeom prst="rect">
            <a:avLst/>
          </a:prstGeom>
          <a:noFill/>
          <a:ln/>
        </p:spPr>
        <p:txBody>
          <a:bodyPr wrap="square" lIns="0" tIns="0" rIns="0" bIns="0" rtlCol="0" anchor="ctr"/>
          <a:lstStyle/>
          <a:p>
            <a:pPr algn="ctr" indent="0" marL="0">
              <a:buNone/>
            </a:pPr>
            <a:r>
              <a:rPr lang="en-US" sz="2400" b="1" dirty="0">
                <a:solidFill>
                  <a:schemeClr val="tx1"/>
                </a:solidFill>
              </a:rPr>
              <a:t>5.000</a:t>
            </a:r>
            <a:endParaRPr lang="en-US" sz="2400" dirty="0"/>
          </a:p>
          <a:p>
            <a:pPr algn="ctr" indent="0" marL="0">
              <a:buNone/>
            </a:pPr>
            <a:r>
              <a:rPr lang="en-US" sz="1300" dirty="0">
                <a:solidFill>
                  <a:srgbClr val="757575"/>
                </a:solidFill>
              </a:rPr>
              <a:t>Datensätze</a:t>
            </a:r>
            <a:endParaRPr lang="en-US" sz="2400" dirty="0"/>
          </a:p>
        </p:txBody>
      </p:sp>
      <p:sp>
        <p:nvSpPr>
          <p:cNvPr id="5" name="Dauer 5.000"/>
          <p:cNvSpPr txBox="1"/>
          <p:nvPr/>
        </p:nvSpPr>
        <p:spPr>
          <a:xfrm>
            <a:off x="548640" y="2468880"/>
            <a:ext cx="2533574" cy="822960"/>
          </a:xfrm>
          <a:prstGeom prst="rect">
            <a:avLst/>
          </a:prstGeom>
          <a:noFill/>
          <a:ln/>
        </p:spPr>
        <p:txBody>
          <a:bodyPr wrap="square" lIns="0" tIns="0" rIns="0" bIns="0" rtlCol="0" anchor="ctr"/>
          <a:lstStyle/>
          <a:p>
            <a:pPr algn="ctr" indent="0" marL="0">
              <a:buNone/>
            </a:pPr>
            <a:r>
              <a:rPr lang="en-US" sz="2800" b="1" dirty="0">
                <a:solidFill>
                  <a:schemeClr val="tx1"/>
                </a:solidFill>
              </a:rPr>
              <a:t>1,6 h</a:t>
            </a:r>
            <a:endParaRPr lang="en-US" sz="2800" dirty="0"/>
          </a:p>
          <a:p>
            <a:pPr algn="ctr" indent="0" marL="0">
              <a:buNone/>
            </a:pPr>
            <a:r>
              <a:rPr lang="en-US" sz="1300" dirty="0">
                <a:solidFill>
                  <a:srgbClr val="757575"/>
                </a:solidFill>
              </a:rPr>
              <a:t>gemessen</a:t>
            </a:r>
            <a:endParaRPr lang="en-US" sz="2800" dirty="0"/>
          </a:p>
        </p:txBody>
      </p:sp>
      <p:sp>
        <p:nvSpPr>
          <p:cNvPr id="6" name="Trainingsdauer 20.000"/>
          <p:cNvSpPr/>
          <p:nvPr/>
        </p:nvSpPr>
        <p:spPr>
          <a:xfrm>
            <a:off x="3402254" y="1417320"/>
            <a:ext cx="2533574" cy="2011680"/>
          </a:xfrm>
          <a:prstGeom prst="roundRect">
            <a:avLst>
              <a:gd name="adj" fmla="val 5455"/>
            </a:avLst>
          </a:prstGeom>
          <a:solidFill>
            <a:srgbClr val="FFFFFF"/>
          </a:solidFill>
          <a:ln w="19050">
            <a:solidFill>
              <a:srgbClr val="121212"/>
            </a:solidFill>
            <a:prstDash val="solid"/>
          </a:ln>
        </p:spPr>
      </p:sp>
      <p:sp>
        <p:nvSpPr>
          <p:cNvPr id="7" name="Datensätze 20.000"/>
          <p:cNvSpPr txBox="1"/>
          <p:nvPr/>
        </p:nvSpPr>
        <p:spPr>
          <a:xfrm>
            <a:off x="3402254" y="1600200"/>
            <a:ext cx="2533574" cy="777240"/>
          </a:xfrm>
          <a:prstGeom prst="rect">
            <a:avLst/>
          </a:prstGeom>
          <a:noFill/>
          <a:ln/>
        </p:spPr>
        <p:txBody>
          <a:bodyPr wrap="square" lIns="0" tIns="0" rIns="0" bIns="0" rtlCol="0" anchor="ctr"/>
          <a:lstStyle/>
          <a:p>
            <a:pPr algn="ctr" indent="0" marL="0">
              <a:buNone/>
            </a:pPr>
            <a:r>
              <a:rPr lang="en-US" sz="2400" b="1" dirty="0">
                <a:solidFill>
                  <a:schemeClr val="tx1"/>
                </a:solidFill>
              </a:rPr>
              <a:t>20.000</a:t>
            </a:r>
            <a:endParaRPr lang="en-US" sz="2400" dirty="0"/>
          </a:p>
          <a:p>
            <a:pPr algn="ctr" indent="0" marL="0">
              <a:buNone/>
            </a:pPr>
            <a:r>
              <a:rPr lang="en-US" sz="1300" dirty="0">
                <a:solidFill>
                  <a:srgbClr val="757575"/>
                </a:solidFill>
              </a:rPr>
              <a:t>Datensätze</a:t>
            </a:r>
            <a:endParaRPr lang="en-US" sz="2400" dirty="0"/>
          </a:p>
        </p:txBody>
      </p:sp>
      <p:sp>
        <p:nvSpPr>
          <p:cNvPr id="8" name="Dauer 20.000"/>
          <p:cNvSpPr txBox="1"/>
          <p:nvPr/>
        </p:nvSpPr>
        <p:spPr>
          <a:xfrm>
            <a:off x="3402254" y="2468880"/>
            <a:ext cx="2533574" cy="822960"/>
          </a:xfrm>
          <a:prstGeom prst="rect">
            <a:avLst/>
          </a:prstGeom>
          <a:noFill/>
          <a:ln/>
        </p:spPr>
        <p:txBody>
          <a:bodyPr wrap="square" lIns="0" tIns="0" rIns="0" bIns="0" rtlCol="0" anchor="ctr"/>
          <a:lstStyle/>
          <a:p>
            <a:pPr algn="ctr" indent="0" marL="0">
              <a:buNone/>
            </a:pPr>
            <a:r>
              <a:rPr lang="en-US" sz="2800" b="1" dirty="0">
                <a:solidFill>
                  <a:schemeClr val="tx1"/>
                </a:solidFill>
              </a:rPr>
              <a:t>6 h</a:t>
            </a:r>
            <a:endParaRPr lang="en-US" sz="2800" dirty="0"/>
          </a:p>
          <a:p>
            <a:pPr algn="ctr" indent="0" marL="0">
              <a:buNone/>
            </a:pPr>
            <a:r>
              <a:rPr lang="en-US" sz="1300" dirty="0">
                <a:solidFill>
                  <a:srgbClr val="757575"/>
                </a:solidFill>
              </a:rPr>
              <a:t>hochgerechnet</a:t>
            </a:r>
            <a:endParaRPr lang="en-US" sz="2800" dirty="0"/>
          </a:p>
        </p:txBody>
      </p:sp>
      <p:sp>
        <p:nvSpPr>
          <p:cNvPr id="9" name="Trainingsdauer 50.000"/>
          <p:cNvSpPr/>
          <p:nvPr/>
        </p:nvSpPr>
        <p:spPr>
          <a:xfrm>
            <a:off x="6255868" y="1417320"/>
            <a:ext cx="2533574" cy="2011680"/>
          </a:xfrm>
          <a:prstGeom prst="roundRect">
            <a:avLst>
              <a:gd name="adj" fmla="val 5455"/>
            </a:avLst>
          </a:prstGeom>
          <a:solidFill>
            <a:srgbClr val="FFFFFF"/>
          </a:solidFill>
          <a:ln w="19050">
            <a:solidFill>
              <a:srgbClr val="121212"/>
            </a:solidFill>
            <a:prstDash val="solid"/>
          </a:ln>
        </p:spPr>
      </p:sp>
      <p:sp>
        <p:nvSpPr>
          <p:cNvPr id="10" name="Datensätze 50.000"/>
          <p:cNvSpPr txBox="1"/>
          <p:nvPr/>
        </p:nvSpPr>
        <p:spPr>
          <a:xfrm>
            <a:off x="6255868" y="1600200"/>
            <a:ext cx="2533574" cy="777240"/>
          </a:xfrm>
          <a:prstGeom prst="rect">
            <a:avLst/>
          </a:prstGeom>
          <a:noFill/>
          <a:ln/>
        </p:spPr>
        <p:txBody>
          <a:bodyPr wrap="square" lIns="0" tIns="0" rIns="0" bIns="0" rtlCol="0" anchor="ctr"/>
          <a:lstStyle/>
          <a:p>
            <a:pPr algn="ctr" indent="0" marL="0">
              <a:buNone/>
            </a:pPr>
            <a:r>
              <a:rPr lang="en-US" sz="2400" b="1" dirty="0">
                <a:solidFill>
                  <a:schemeClr val="tx1"/>
                </a:solidFill>
              </a:rPr>
              <a:t>50.000</a:t>
            </a:r>
            <a:endParaRPr lang="en-US" sz="2400" dirty="0"/>
          </a:p>
          <a:p>
            <a:pPr algn="ctr" indent="0" marL="0">
              <a:buNone/>
            </a:pPr>
            <a:r>
              <a:rPr lang="en-US" sz="1300" dirty="0">
                <a:solidFill>
                  <a:srgbClr val="757575"/>
                </a:solidFill>
              </a:rPr>
              <a:t>Datensätze</a:t>
            </a:r>
            <a:endParaRPr lang="en-US" sz="2400" dirty="0"/>
          </a:p>
        </p:txBody>
      </p:sp>
      <p:sp>
        <p:nvSpPr>
          <p:cNvPr id="11" name="Dauer 50.000"/>
          <p:cNvSpPr txBox="1"/>
          <p:nvPr/>
        </p:nvSpPr>
        <p:spPr>
          <a:xfrm>
            <a:off x="6255868" y="2468880"/>
            <a:ext cx="2533574" cy="822960"/>
          </a:xfrm>
          <a:prstGeom prst="rect">
            <a:avLst/>
          </a:prstGeom>
          <a:noFill/>
          <a:ln/>
        </p:spPr>
        <p:txBody>
          <a:bodyPr wrap="square" lIns="0" tIns="0" rIns="0" bIns="0" rtlCol="0" anchor="ctr"/>
          <a:lstStyle/>
          <a:p>
            <a:pPr algn="ctr" indent="0" marL="0">
              <a:buNone/>
            </a:pPr>
            <a:r>
              <a:rPr lang="en-US" sz="2800" b="1" dirty="0">
                <a:solidFill>
                  <a:schemeClr val="tx1"/>
                </a:solidFill>
              </a:rPr>
              <a:t>15 h</a:t>
            </a:r>
            <a:endParaRPr lang="en-US" sz="2800" dirty="0"/>
          </a:p>
          <a:p>
            <a:pPr algn="ctr" indent="0" marL="0">
              <a:buNone/>
            </a:pPr>
            <a:r>
              <a:rPr lang="en-US" sz="1300" dirty="0">
                <a:solidFill>
                  <a:srgbClr val="757575"/>
                </a:solidFill>
              </a:rPr>
              <a:t>hochgerechnet</a:t>
            </a:r>
            <a:endParaRPr lang="en-US" sz="2800" dirty="0"/>
          </a:p>
        </p:txBody>
      </p:sp>
      <p:sp>
        <p:nvSpPr>
          <p:cNvPr id="12" name="Trainingsdauer 1.000.000"/>
          <p:cNvSpPr/>
          <p:nvPr/>
        </p:nvSpPr>
        <p:spPr>
          <a:xfrm>
            <a:off x="9109481" y="1417320"/>
            <a:ext cx="2533574" cy="2011680"/>
          </a:xfrm>
          <a:prstGeom prst="roundRect">
            <a:avLst>
              <a:gd name="adj" fmla="val 5455"/>
            </a:avLst>
          </a:prstGeom>
          <a:solidFill>
            <a:srgbClr val="FFFFFF"/>
          </a:solidFill>
          <a:ln w="19050">
            <a:solidFill>
              <a:srgbClr val="121212"/>
            </a:solidFill>
            <a:prstDash val="solid"/>
          </a:ln>
        </p:spPr>
      </p:sp>
      <p:sp>
        <p:nvSpPr>
          <p:cNvPr id="13" name="Datensätze 1.000.000"/>
          <p:cNvSpPr txBox="1"/>
          <p:nvPr/>
        </p:nvSpPr>
        <p:spPr>
          <a:xfrm>
            <a:off x="9109481" y="1600200"/>
            <a:ext cx="2533574" cy="777240"/>
          </a:xfrm>
          <a:prstGeom prst="rect">
            <a:avLst/>
          </a:prstGeom>
          <a:noFill/>
          <a:ln/>
        </p:spPr>
        <p:txBody>
          <a:bodyPr wrap="square" lIns="0" tIns="0" rIns="0" bIns="0" rtlCol="0" anchor="ctr"/>
          <a:lstStyle/>
          <a:p>
            <a:pPr algn="ctr" indent="0" marL="0">
              <a:buNone/>
            </a:pPr>
            <a:r>
              <a:rPr lang="en-US" sz="2400" b="1" dirty="0">
                <a:solidFill>
                  <a:schemeClr val="tx1"/>
                </a:solidFill>
              </a:rPr>
              <a:t>1.000.000</a:t>
            </a:r>
            <a:endParaRPr lang="en-US" sz="2400" dirty="0"/>
          </a:p>
          <a:p>
            <a:pPr algn="ctr" indent="0" marL="0">
              <a:buNone/>
            </a:pPr>
            <a:r>
              <a:rPr lang="en-US" sz="1300" dirty="0">
                <a:solidFill>
                  <a:srgbClr val="757575"/>
                </a:solidFill>
              </a:rPr>
              <a:t>Datensätze</a:t>
            </a:r>
            <a:endParaRPr lang="en-US" sz="2400" dirty="0"/>
          </a:p>
        </p:txBody>
      </p:sp>
      <p:sp>
        <p:nvSpPr>
          <p:cNvPr id="14" name="Dauer 1.000.000"/>
          <p:cNvSpPr txBox="1"/>
          <p:nvPr/>
        </p:nvSpPr>
        <p:spPr>
          <a:xfrm>
            <a:off x="9109481" y="2468880"/>
            <a:ext cx="2533574" cy="822960"/>
          </a:xfrm>
          <a:prstGeom prst="rect">
            <a:avLst/>
          </a:prstGeom>
          <a:noFill/>
          <a:ln/>
        </p:spPr>
        <p:txBody>
          <a:bodyPr wrap="square" lIns="0" tIns="0" rIns="0" bIns="0" rtlCol="0" anchor="ctr"/>
          <a:lstStyle/>
          <a:p>
            <a:pPr algn="ctr" indent="0" marL="0">
              <a:buNone/>
            </a:pPr>
            <a:r>
              <a:rPr lang="en-US" sz="2800" b="1" dirty="0">
                <a:solidFill>
                  <a:schemeClr val="tx1"/>
                </a:solidFill>
              </a:rPr>
              <a:t>12 Tage</a:t>
            </a:r>
            <a:endParaRPr lang="en-US" sz="2800" dirty="0"/>
          </a:p>
          <a:p>
            <a:pPr algn="ctr" indent="0" marL="0">
              <a:buNone/>
            </a:pPr>
            <a:r>
              <a:rPr lang="en-US" sz="1300" dirty="0">
                <a:solidFill>
                  <a:srgbClr val="757575"/>
                </a:solidFill>
              </a:rPr>
              <a:t>1 Epoche: 4 Tage</a:t>
            </a:r>
            <a:endParaRPr lang="en-US" sz="2800" dirty="0"/>
          </a:p>
        </p:txBody>
      </p:sp>
      <p:sp>
        <p:nvSpPr>
          <p:cNvPr id="15" name="Schritt Daten ergänzen"/>
          <p:cNvSpPr/>
          <p:nvPr/>
        </p:nvSpPr>
        <p:spPr>
          <a:xfrm>
            <a:off x="548640" y="3931920"/>
            <a:ext cx="2396414" cy="731520"/>
          </a:xfrm>
          <a:prstGeom prst="roundRect">
            <a:avLst>
              <a:gd name="adj" fmla="val 15000"/>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1400" dirty="0">
                <a:solidFill>
                  <a:schemeClr val="tx1"/>
                </a:solidFill>
              </a:rPr>
              <a:t>Daten ergänzen</a:t>
            </a:r>
            <a:endParaRPr lang="en-US" sz="1400" dirty="0"/>
          </a:p>
        </p:txBody>
      </p:sp>
      <p:sp>
        <p:nvSpPr>
          <p:cNvPr id="16" name="Sequenzfluss"/>
          <p:cNvSpPr/>
          <p:nvPr/>
        </p:nvSpPr>
        <p:spPr>
          <a:xfrm>
            <a:off x="2945054" y="4297680"/>
            <a:ext cx="502920" cy="0"/>
          </a:xfrm>
          <a:prstGeom prst="line">
            <a:avLst/>
          </a:prstGeom>
          <a:noFill/>
          <a:ln w="19050">
            <a:solidFill>
              <a:srgbClr val="121212"/>
            </a:solidFill>
            <a:prstDash val="solid"/>
            <a:tailEnd type="triangle"/>
          </a:ln>
        </p:spPr>
      </p:sp>
      <p:sp>
        <p:nvSpPr>
          <p:cNvPr id="17" name="Schritt Trainieren"/>
          <p:cNvSpPr/>
          <p:nvPr/>
        </p:nvSpPr>
        <p:spPr>
          <a:xfrm>
            <a:off x="3447974" y="3931920"/>
            <a:ext cx="2396414" cy="731520"/>
          </a:xfrm>
          <a:prstGeom prst="roundRect">
            <a:avLst>
              <a:gd name="adj" fmla="val 15000"/>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1400" dirty="0">
                <a:solidFill>
                  <a:schemeClr val="tx1"/>
                </a:solidFill>
              </a:rPr>
              <a:t>Trainieren</a:t>
            </a:r>
            <a:endParaRPr lang="en-US" sz="1400" dirty="0"/>
          </a:p>
        </p:txBody>
      </p:sp>
      <p:sp>
        <p:nvSpPr>
          <p:cNvPr id="18" name="Sequenzfluss"/>
          <p:cNvSpPr/>
          <p:nvPr/>
        </p:nvSpPr>
        <p:spPr>
          <a:xfrm>
            <a:off x="5844388" y="4297680"/>
            <a:ext cx="502920" cy="0"/>
          </a:xfrm>
          <a:prstGeom prst="line">
            <a:avLst/>
          </a:prstGeom>
          <a:noFill/>
          <a:ln w="19050">
            <a:solidFill>
              <a:srgbClr val="121212"/>
            </a:solidFill>
            <a:prstDash val="solid"/>
            <a:tailEnd type="triangle"/>
          </a:ln>
        </p:spPr>
      </p:sp>
      <p:sp>
        <p:nvSpPr>
          <p:cNvPr id="19" name="Schritt Prüfen: Test und Gegenproben"/>
          <p:cNvSpPr/>
          <p:nvPr/>
        </p:nvSpPr>
        <p:spPr>
          <a:xfrm>
            <a:off x="6347308" y="3931920"/>
            <a:ext cx="2396414" cy="731520"/>
          </a:xfrm>
          <a:prstGeom prst="roundRect">
            <a:avLst>
              <a:gd name="adj" fmla="val 15000"/>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1400" dirty="0">
                <a:solidFill>
                  <a:schemeClr val="tx1"/>
                </a:solidFill>
              </a:rPr>
              <a:t>Prüfen: Test und Gegenproben</a:t>
            </a:r>
            <a:endParaRPr lang="en-US" sz="1400" dirty="0"/>
          </a:p>
        </p:txBody>
      </p:sp>
      <p:sp>
        <p:nvSpPr>
          <p:cNvPr id="20" name="Sequenzfluss"/>
          <p:cNvSpPr/>
          <p:nvPr/>
        </p:nvSpPr>
        <p:spPr>
          <a:xfrm>
            <a:off x="8743721" y="4297680"/>
            <a:ext cx="502920" cy="0"/>
          </a:xfrm>
          <a:prstGeom prst="line">
            <a:avLst/>
          </a:prstGeom>
          <a:noFill/>
          <a:ln w="19050">
            <a:solidFill>
              <a:srgbClr val="121212"/>
            </a:solidFill>
            <a:prstDash val="solid"/>
            <a:tailEnd type="triangle"/>
          </a:ln>
        </p:spPr>
      </p:sp>
      <p:sp>
        <p:nvSpPr>
          <p:cNvPr id="21" name="Schritt Modell tauschen"/>
          <p:cNvSpPr/>
          <p:nvPr/>
        </p:nvSpPr>
        <p:spPr>
          <a:xfrm>
            <a:off x="9246641" y="3931920"/>
            <a:ext cx="2396414" cy="731520"/>
          </a:xfrm>
          <a:prstGeom prst="roundRect">
            <a:avLst>
              <a:gd name="adj" fmla="val 15000"/>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1400" dirty="0">
                <a:solidFill>
                  <a:schemeClr val="tx1"/>
                </a:solidFill>
              </a:rPr>
              <a:t>Modell tauschen</a:t>
            </a:r>
            <a:endParaRPr lang="en-US" sz="1400" dirty="0"/>
          </a:p>
        </p:txBody>
      </p:sp>
      <p:sp>
        <p:nvSpPr>
          <p:cNvPr id="22" name="Sequenzfluss"/>
          <p:cNvSpPr/>
          <p:nvPr/>
        </p:nvSpPr>
        <p:spPr>
          <a:xfrm>
            <a:off x="10444848" y="4663440"/>
            <a:ext cx="0" cy="365760"/>
          </a:xfrm>
          <a:prstGeom prst="line">
            <a:avLst/>
          </a:prstGeom>
          <a:noFill/>
          <a:ln w="19050">
            <a:solidFill>
              <a:srgbClr val="121212"/>
            </a:solidFill>
            <a:prstDash val="solid"/>
          </a:ln>
        </p:spPr>
      </p:sp>
      <p:sp>
        <p:nvSpPr>
          <p:cNvPr id="23" name="Sequenzfluss"/>
          <p:cNvSpPr/>
          <p:nvPr/>
        </p:nvSpPr>
        <p:spPr>
          <a:xfrm>
            <a:off x="1746847" y="5029200"/>
            <a:ext cx="8698001" cy="0"/>
          </a:xfrm>
          <a:prstGeom prst="line">
            <a:avLst/>
          </a:prstGeom>
          <a:noFill/>
          <a:ln w="19050">
            <a:solidFill>
              <a:srgbClr val="121212"/>
            </a:solidFill>
            <a:prstDash val="solid"/>
          </a:ln>
        </p:spPr>
      </p:sp>
      <p:sp>
        <p:nvSpPr>
          <p:cNvPr id="24" name="Sequenzfluss"/>
          <p:cNvSpPr/>
          <p:nvPr/>
        </p:nvSpPr>
        <p:spPr>
          <a:xfrm flipV="1">
            <a:off x="1746847" y="4663440"/>
            <a:ext cx="0" cy="365760"/>
          </a:xfrm>
          <a:prstGeom prst="line">
            <a:avLst/>
          </a:prstGeom>
          <a:noFill/>
          <a:ln w="19050">
            <a:solidFill>
              <a:srgbClr val="121212"/>
            </a:solidFill>
            <a:prstDash val="solid"/>
            <a:tailEnd type="triangle"/>
          </a:ln>
        </p:spPr>
      </p:sp>
      <p:sp>
        <p:nvSpPr>
          <p:cNvPr id="25" name="Hinweis Kreislauf"/>
          <p:cNvSpPr txBox="1"/>
          <p:nvPr/>
        </p:nvSpPr>
        <p:spPr>
          <a:xfrm>
            <a:off x="822960" y="5138928"/>
            <a:ext cx="10545775" cy="365760"/>
          </a:xfrm>
          <a:prstGeom prst="rect">
            <a:avLst/>
          </a:prstGeom>
          <a:noFill/>
          <a:ln/>
        </p:spPr>
        <p:txBody>
          <a:bodyPr wrap="square" lIns="0" tIns="0" rIns="0" bIns="0" rtlCol="0" anchor="ctr"/>
          <a:lstStyle/>
          <a:p>
            <a:pPr algn="ctr" indent="0" marL="0">
              <a:buNone/>
            </a:pPr>
            <a:r>
              <a:rPr lang="en-US" sz="1300" dirty="0">
                <a:solidFill>
                  <a:srgbClr val="757575"/>
                </a:solidFill>
              </a:rPr>
              <a:t>Nachtrainieren ist ein Skriptlauf: neue Fälle rein, Modell raus – der Prozess bleibt unverändert</a:t>
            </a:r>
            <a:endParaRPr lang="en-US" sz="1300" dirty="0"/>
          </a:p>
        </p:txBody>
      </p:sp>
      <p:sp>
        <p:nvSpPr>
          <p:cNvPr id="25" name="Slide Number Placeholder 0"/>
          <p:cNvSpPr>
            <a:spLocks noGrp="1"/>
          </p:cNvSpPr>
          <p:nvPr>
            <p:ph type="sldNum" sz="quarter" idx="4294967295"/>
          </p:nvPr>
        </p:nvSpPr>
        <p:spPr>
          <a:xfrm>
            <a:off x="11094415"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7575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000" b="1" dirty="0">
                <a:solidFill>
                  <a:schemeClr val="tx1"/>
                </a:solidFill>
              </a:rPr>
              <a:t>Warum kein großes LLM wie Fable?</a:t>
            </a:r>
            <a:endParaRPr lang="en-US" sz="3000" dirty="0"/>
          </a:p>
        </p:txBody>
      </p:sp>
      <p:sp>
        <p:nvSpPr>
          <p:cNvPr id="3" name="Aufgabe Datenschutz"/>
          <p:cNvSpPr/>
          <p:nvPr/>
        </p:nvSpPr>
        <p:spPr>
          <a:xfrm>
            <a:off x="548640" y="1691640"/>
            <a:ext cx="5364328" cy="1508760"/>
          </a:xfrm>
          <a:prstGeom prst="roundRect">
            <a:avLst>
              <a:gd name="adj" fmla="val 7273"/>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2400" b="1" dirty="0">
                <a:solidFill>
                  <a:schemeClr val="tx1"/>
                </a:solidFill>
              </a:rPr>
              <a:t>Datenschutz</a:t>
            </a:r>
            <a:endParaRPr lang="en-US" sz="2400" dirty="0"/>
          </a:p>
        </p:txBody>
      </p:sp>
      <p:sp>
        <p:nvSpPr>
          <p:cNvPr id="4" name="Aufgabe Kosten und Tempo"/>
          <p:cNvSpPr/>
          <p:nvPr/>
        </p:nvSpPr>
        <p:spPr>
          <a:xfrm>
            <a:off x="6278728" y="1691640"/>
            <a:ext cx="5364328" cy="1508760"/>
          </a:xfrm>
          <a:prstGeom prst="roundRect">
            <a:avLst>
              <a:gd name="adj" fmla="val 7273"/>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2400" b="1" dirty="0">
                <a:solidFill>
                  <a:schemeClr val="tx1"/>
                </a:solidFill>
              </a:rPr>
              <a:t>Kosten und Tempo</a:t>
            </a:r>
            <a:endParaRPr lang="en-US" sz="2400" dirty="0"/>
          </a:p>
        </p:txBody>
      </p:sp>
      <p:sp>
        <p:nvSpPr>
          <p:cNvPr id="5" name="Aufgabe Kontrolle"/>
          <p:cNvSpPr/>
          <p:nvPr/>
        </p:nvSpPr>
        <p:spPr>
          <a:xfrm>
            <a:off x="548640" y="3566160"/>
            <a:ext cx="5364328" cy="1508760"/>
          </a:xfrm>
          <a:prstGeom prst="roundRect">
            <a:avLst>
              <a:gd name="adj" fmla="val 7273"/>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2400" b="1" dirty="0">
                <a:solidFill>
                  <a:schemeClr val="tx1"/>
                </a:solidFill>
              </a:rPr>
              <a:t>Kontrolle</a:t>
            </a:r>
            <a:endParaRPr lang="en-US" sz="2400" dirty="0"/>
          </a:p>
        </p:txBody>
      </p:sp>
      <p:sp>
        <p:nvSpPr>
          <p:cNvPr id="6" name="Aufgabe Prüfbarkeit"/>
          <p:cNvSpPr/>
          <p:nvPr/>
        </p:nvSpPr>
        <p:spPr>
          <a:xfrm>
            <a:off x="6278728" y="3566160"/>
            <a:ext cx="5364328" cy="1508760"/>
          </a:xfrm>
          <a:prstGeom prst="roundRect">
            <a:avLst>
              <a:gd name="adj" fmla="val 7273"/>
            </a:avLst>
          </a:prstGeom>
          <a:solidFill>
            <a:srgbClr val="FFFFFF"/>
          </a:solidFill>
          <a:ln w="19050">
            <a:solidFill>
              <a:srgbClr val="121212"/>
            </a:solidFill>
          </a:ln>
        </p:spPr>
        <p:txBody>
          <a:bodyPr wrap="square" lIns="127000" tIns="127000" rIns="127000" bIns="127000" rtlCol="0" anchor="ctr"/>
          <a:lstStyle/>
          <a:p>
            <a:pPr algn="ctr" indent="0" marL="0">
              <a:buNone/>
            </a:pPr>
            <a:r>
              <a:rPr lang="en-US" sz="2400" b="1" dirty="0">
                <a:solidFill>
                  <a:schemeClr val="tx1"/>
                </a:solidFill>
              </a:rPr>
              <a:t>Prüfbarkeit</a:t>
            </a:r>
            <a:endParaRPr lang="en-US" sz="2400" dirty="0"/>
          </a:p>
        </p:txBody>
      </p:sp>
      <p:sp>
        <p:nvSpPr>
          <p:cNvPr id="25" name="Slide Number Placeholder 0"/>
          <p:cNvSpPr>
            <a:spLocks noGrp="1"/>
          </p:cNvSpPr>
          <p:nvPr>
            <p:ph type="sldNum" sz="quarter" idx="4294967295"/>
          </p:nvPr>
        </p:nvSpPr>
        <p:spPr>
          <a:xfrm>
            <a:off x="11094415"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7575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000" b="1" dirty="0">
                <a:solidFill>
                  <a:schemeClr val="tx1"/>
                </a:solidFill>
              </a:rPr>
              <a:t>Live-Demo</a:t>
            </a:r>
            <a:endParaRPr lang="en-US" sz="3000" dirty="0"/>
          </a:p>
        </p:txBody>
      </p:sp>
      <p:sp>
        <p:nvSpPr>
          <p:cNvPr id="3" name="Startereignis"/>
          <p:cNvSpPr/>
          <p:nvPr/>
        </p:nvSpPr>
        <p:spPr>
          <a:xfrm>
            <a:off x="548640" y="2962656"/>
            <a:ext cx="384048" cy="384048"/>
          </a:xfrm>
          <a:prstGeom prst="ellipse">
            <a:avLst/>
          </a:prstGeom>
          <a:solidFill>
            <a:srgbClr val="FFFFFF"/>
          </a:solidFill>
          <a:ln w="19050">
            <a:solidFill>
              <a:srgbClr val="121212"/>
            </a:solidFill>
            <a:prstDash val="solid"/>
          </a:ln>
        </p:spPr>
      </p:sp>
      <p:sp>
        <p:nvSpPr>
          <p:cNvPr id="4" name="Sequenzfluss"/>
          <p:cNvSpPr/>
          <p:nvPr/>
        </p:nvSpPr>
        <p:spPr>
          <a:xfrm>
            <a:off x="932688" y="3154680"/>
            <a:ext cx="201168" cy="0"/>
          </a:xfrm>
          <a:prstGeom prst="line">
            <a:avLst/>
          </a:prstGeom>
          <a:noFill/>
          <a:ln w="19050">
            <a:solidFill>
              <a:srgbClr val="121212"/>
            </a:solidFill>
            <a:prstDash val="solid"/>
            <a:tailEnd type="triangle"/>
          </a:ln>
        </p:spPr>
      </p:sp>
      <p:sp>
        <p:nvSpPr>
          <p:cNvPr id="5" name="Demo K01"/>
          <p:cNvSpPr/>
          <p:nvPr/>
        </p:nvSpPr>
        <p:spPr>
          <a:xfrm>
            <a:off x="1133856" y="2377440"/>
            <a:ext cx="1486357" cy="1554480"/>
          </a:xfrm>
          <a:prstGeom prst="roundRect">
            <a:avLst>
              <a:gd name="adj" fmla="val 7382"/>
            </a:avLst>
          </a:prstGeom>
          <a:solidFill>
            <a:srgbClr val="FFFFFF"/>
          </a:solidFill>
          <a:ln w="19050">
            <a:solidFill>
              <a:srgbClr val="121212"/>
            </a:solidFill>
          </a:ln>
        </p:spPr>
        <p:txBody>
          <a:bodyPr wrap="square" lIns="50800" tIns="50800" rIns="50800" bIns="50800" rtlCol="0" anchor="ctr"/>
          <a:lstStyle/>
          <a:p>
            <a:pPr algn="ctr" indent="0" marL="0">
              <a:buNone/>
            </a:pPr>
            <a:r>
              <a:rPr lang="en-US" sz="1300" b="1" dirty="0">
                <a:solidFill>
                  <a:schemeClr val="tx1"/>
                </a:solidFill>
              </a:rPr>
              <a:t>K01</a:t>
            </a:r>
            <a:endParaRPr lang="en-US" sz="1300" dirty="0"/>
          </a:p>
          <a:p>
            <a:pPr algn="ctr" indent="0" marL="0">
              <a:buNone/>
            </a:pPr>
            <a:r>
              <a:rPr lang="en-US" sz="1300" dirty="0">
                <a:solidFill>
                  <a:schemeClr val="tx1"/>
                </a:solidFill>
              </a:rPr>
              <a:t>Automatische Freigabe</a:t>
            </a:r>
            <a:endParaRPr lang="en-US" sz="1300" dirty="0"/>
          </a:p>
        </p:txBody>
      </p:sp>
      <p:sp>
        <p:nvSpPr>
          <p:cNvPr id="6" name="Sequenzfluss"/>
          <p:cNvSpPr/>
          <p:nvPr/>
        </p:nvSpPr>
        <p:spPr>
          <a:xfrm>
            <a:off x="2620213" y="3154680"/>
            <a:ext cx="201168" cy="0"/>
          </a:xfrm>
          <a:prstGeom prst="line">
            <a:avLst/>
          </a:prstGeom>
          <a:noFill/>
          <a:ln w="19050">
            <a:solidFill>
              <a:srgbClr val="121212"/>
            </a:solidFill>
            <a:prstDash val="solid"/>
            <a:tailEnd type="triangle"/>
          </a:ln>
        </p:spPr>
      </p:sp>
      <p:sp>
        <p:nvSpPr>
          <p:cNvPr id="7" name="Demo K11"/>
          <p:cNvSpPr/>
          <p:nvPr/>
        </p:nvSpPr>
        <p:spPr>
          <a:xfrm>
            <a:off x="2821381" y="2377440"/>
            <a:ext cx="1486357" cy="1554480"/>
          </a:xfrm>
          <a:prstGeom prst="roundRect">
            <a:avLst>
              <a:gd name="adj" fmla="val 7382"/>
            </a:avLst>
          </a:prstGeom>
          <a:solidFill>
            <a:srgbClr val="FFFFFF"/>
          </a:solidFill>
          <a:ln w="19050">
            <a:solidFill>
              <a:srgbClr val="121212"/>
            </a:solidFill>
          </a:ln>
        </p:spPr>
        <p:txBody>
          <a:bodyPr wrap="square" lIns="50800" tIns="50800" rIns="50800" bIns="50800" rtlCol="0" anchor="ctr"/>
          <a:lstStyle/>
          <a:p>
            <a:pPr algn="ctr" indent="0" marL="0">
              <a:buNone/>
            </a:pPr>
            <a:r>
              <a:rPr lang="en-US" sz="1300" b="1" dirty="0">
                <a:solidFill>
                  <a:schemeClr val="tx1"/>
                </a:solidFill>
              </a:rPr>
              <a:t>K11</a:t>
            </a:r>
            <a:endParaRPr lang="en-US" sz="1300" dirty="0"/>
          </a:p>
          <a:p>
            <a:pPr algn="ctr" indent="0" marL="0">
              <a:buNone/>
            </a:pPr>
            <a:r>
              <a:rPr lang="en-US" sz="1300" dirty="0">
                <a:solidFill>
                  <a:schemeClr val="tx1"/>
                </a:solidFill>
              </a:rPr>
              <a:t>Geschäftliche Nutzung</a:t>
            </a:r>
            <a:endParaRPr lang="en-US" sz="1300" dirty="0"/>
          </a:p>
        </p:txBody>
      </p:sp>
      <p:sp>
        <p:nvSpPr>
          <p:cNvPr id="8" name="Sequenzfluss"/>
          <p:cNvSpPr/>
          <p:nvPr/>
        </p:nvSpPr>
        <p:spPr>
          <a:xfrm>
            <a:off x="4307738" y="3154680"/>
            <a:ext cx="201168" cy="0"/>
          </a:xfrm>
          <a:prstGeom prst="line">
            <a:avLst/>
          </a:prstGeom>
          <a:noFill/>
          <a:ln w="19050">
            <a:solidFill>
              <a:srgbClr val="121212"/>
            </a:solidFill>
            <a:prstDash val="solid"/>
            <a:tailEnd type="triangle"/>
          </a:ln>
        </p:spPr>
      </p:sp>
      <p:sp>
        <p:nvSpPr>
          <p:cNvPr id="9" name="Demo K06"/>
          <p:cNvSpPr/>
          <p:nvPr/>
        </p:nvSpPr>
        <p:spPr>
          <a:xfrm>
            <a:off x="4508906" y="2377440"/>
            <a:ext cx="1486357" cy="1554480"/>
          </a:xfrm>
          <a:prstGeom prst="roundRect">
            <a:avLst>
              <a:gd name="adj" fmla="val 7382"/>
            </a:avLst>
          </a:prstGeom>
          <a:solidFill>
            <a:srgbClr val="FFFFFF"/>
          </a:solidFill>
          <a:ln w="19050">
            <a:solidFill>
              <a:srgbClr val="121212"/>
            </a:solidFill>
          </a:ln>
        </p:spPr>
        <p:txBody>
          <a:bodyPr wrap="square" lIns="50800" tIns="50800" rIns="50800" bIns="50800" rtlCol="0" anchor="ctr"/>
          <a:lstStyle/>
          <a:p>
            <a:pPr algn="ctr" indent="0" marL="0">
              <a:buNone/>
            </a:pPr>
            <a:r>
              <a:rPr lang="en-US" sz="1300" b="1" dirty="0">
                <a:solidFill>
                  <a:schemeClr val="tx1"/>
                </a:solidFill>
              </a:rPr>
              <a:t>K06</a:t>
            </a:r>
            <a:endParaRPr lang="en-US" sz="1300" dirty="0"/>
          </a:p>
          <a:p>
            <a:pPr algn="ctr" indent="0" marL="0">
              <a:buNone/>
            </a:pPr>
            <a:r>
              <a:rPr lang="en-US" sz="1300" dirty="0">
                <a:solidFill>
                  <a:schemeClr val="tx1"/>
                </a:solidFill>
              </a:rPr>
              <a:t>USA-Bezug</a:t>
            </a:r>
            <a:endParaRPr lang="en-US" sz="1300" dirty="0"/>
          </a:p>
        </p:txBody>
      </p:sp>
      <p:sp>
        <p:nvSpPr>
          <p:cNvPr id="10" name="Sequenzfluss"/>
          <p:cNvSpPr/>
          <p:nvPr/>
        </p:nvSpPr>
        <p:spPr>
          <a:xfrm>
            <a:off x="5995264" y="3154680"/>
            <a:ext cx="201168" cy="0"/>
          </a:xfrm>
          <a:prstGeom prst="line">
            <a:avLst/>
          </a:prstGeom>
          <a:noFill/>
          <a:ln w="19050">
            <a:solidFill>
              <a:srgbClr val="121212"/>
            </a:solidFill>
            <a:prstDash val="solid"/>
            <a:tailEnd type="triangle"/>
          </a:ln>
        </p:spPr>
      </p:sp>
      <p:sp>
        <p:nvSpPr>
          <p:cNvPr id="11" name="Demo K15"/>
          <p:cNvSpPr/>
          <p:nvPr/>
        </p:nvSpPr>
        <p:spPr>
          <a:xfrm>
            <a:off x="6196432" y="2377440"/>
            <a:ext cx="1486357" cy="1554480"/>
          </a:xfrm>
          <a:prstGeom prst="roundRect">
            <a:avLst>
              <a:gd name="adj" fmla="val 7382"/>
            </a:avLst>
          </a:prstGeom>
          <a:solidFill>
            <a:srgbClr val="FFFFFF"/>
          </a:solidFill>
          <a:ln w="19050">
            <a:solidFill>
              <a:srgbClr val="121212"/>
            </a:solidFill>
          </a:ln>
        </p:spPr>
        <p:txBody>
          <a:bodyPr wrap="square" lIns="50800" tIns="50800" rIns="50800" bIns="50800" rtlCol="0" anchor="ctr"/>
          <a:lstStyle/>
          <a:p>
            <a:pPr algn="ctr" indent="0" marL="0">
              <a:buNone/>
            </a:pPr>
            <a:r>
              <a:rPr lang="en-US" sz="1300" b="1" dirty="0">
                <a:solidFill>
                  <a:schemeClr val="tx1"/>
                </a:solidFill>
              </a:rPr>
              <a:t>K15</a:t>
            </a:r>
            <a:endParaRPr lang="en-US" sz="1300" dirty="0"/>
          </a:p>
          <a:p>
            <a:pPr algn="ctr" indent="0" marL="0">
              <a:buNone/>
            </a:pPr>
            <a:r>
              <a:rPr lang="en-US" sz="1300" dirty="0">
                <a:solidFill>
                  <a:schemeClr val="tx1"/>
                </a:solidFill>
              </a:rPr>
              <a:t>Ablehnung durch Regel</a:t>
            </a:r>
            <a:endParaRPr lang="en-US" sz="1300" dirty="0"/>
          </a:p>
        </p:txBody>
      </p:sp>
      <p:sp>
        <p:nvSpPr>
          <p:cNvPr id="12" name="Sequenzfluss"/>
          <p:cNvSpPr/>
          <p:nvPr/>
        </p:nvSpPr>
        <p:spPr>
          <a:xfrm>
            <a:off x="7682789" y="3154680"/>
            <a:ext cx="201168" cy="0"/>
          </a:xfrm>
          <a:prstGeom prst="line">
            <a:avLst/>
          </a:prstGeom>
          <a:noFill/>
          <a:ln w="19050">
            <a:solidFill>
              <a:srgbClr val="121212"/>
            </a:solidFill>
            <a:prstDash val="solid"/>
            <a:tailEnd type="triangle"/>
          </a:ln>
        </p:spPr>
      </p:sp>
      <p:sp>
        <p:nvSpPr>
          <p:cNvPr id="13" name="Demo K13 / K14"/>
          <p:cNvSpPr/>
          <p:nvPr/>
        </p:nvSpPr>
        <p:spPr>
          <a:xfrm>
            <a:off x="7883957" y="2377440"/>
            <a:ext cx="1486357" cy="1554480"/>
          </a:xfrm>
          <a:prstGeom prst="roundRect">
            <a:avLst>
              <a:gd name="adj" fmla="val 7382"/>
            </a:avLst>
          </a:prstGeom>
          <a:solidFill>
            <a:srgbClr val="FFFFFF"/>
          </a:solidFill>
          <a:ln w="19050">
            <a:solidFill>
              <a:srgbClr val="121212"/>
            </a:solidFill>
          </a:ln>
        </p:spPr>
        <p:txBody>
          <a:bodyPr wrap="square" lIns="50800" tIns="50800" rIns="50800" bIns="50800" rtlCol="0" anchor="ctr"/>
          <a:lstStyle/>
          <a:p>
            <a:pPr algn="ctr" indent="0" marL="0">
              <a:buNone/>
            </a:pPr>
            <a:r>
              <a:rPr lang="en-US" sz="1300" b="1" dirty="0">
                <a:solidFill>
                  <a:schemeClr val="tx1"/>
                </a:solidFill>
              </a:rPr>
              <a:t>K13 / K14</a:t>
            </a:r>
            <a:endParaRPr lang="en-US" sz="1300" dirty="0"/>
          </a:p>
          <a:p>
            <a:pPr algn="ctr" indent="0" marL="0">
              <a:buNone/>
            </a:pPr>
            <a:r>
              <a:rPr lang="en-US" sz="1300" dirty="0">
                <a:solidFill>
                  <a:schemeClr val="tx1"/>
                </a:solidFill>
              </a:rPr>
              <a:t>Wohnadresse vs. Arbeitgeber</a:t>
            </a:r>
            <a:endParaRPr lang="en-US" sz="1300" dirty="0"/>
          </a:p>
        </p:txBody>
      </p:sp>
      <p:sp>
        <p:nvSpPr>
          <p:cNvPr id="14" name="Sequenzfluss"/>
          <p:cNvSpPr/>
          <p:nvPr/>
        </p:nvSpPr>
        <p:spPr>
          <a:xfrm>
            <a:off x="9370314" y="3154680"/>
            <a:ext cx="201168" cy="0"/>
          </a:xfrm>
          <a:prstGeom prst="line">
            <a:avLst/>
          </a:prstGeom>
          <a:noFill/>
          <a:ln w="19050">
            <a:solidFill>
              <a:srgbClr val="121212"/>
            </a:solidFill>
            <a:prstDash val="solid"/>
            <a:tailEnd type="triangle"/>
          </a:ln>
        </p:spPr>
      </p:sp>
      <p:sp>
        <p:nvSpPr>
          <p:cNvPr id="15" name="Demo Dashboard"/>
          <p:cNvSpPr/>
          <p:nvPr/>
        </p:nvSpPr>
        <p:spPr>
          <a:xfrm>
            <a:off x="9571482" y="2377440"/>
            <a:ext cx="1486357" cy="1554480"/>
          </a:xfrm>
          <a:prstGeom prst="roundRect">
            <a:avLst>
              <a:gd name="adj" fmla="val 7382"/>
            </a:avLst>
          </a:prstGeom>
          <a:solidFill>
            <a:srgbClr val="F4F4F4"/>
          </a:solidFill>
          <a:ln w="19050">
            <a:solidFill>
              <a:srgbClr val="121212"/>
            </a:solidFill>
          </a:ln>
        </p:spPr>
        <p:txBody>
          <a:bodyPr wrap="square" lIns="50800" tIns="50800" rIns="50800" bIns="50800" rtlCol="0" anchor="ctr"/>
          <a:lstStyle/>
          <a:p>
            <a:pPr algn="ctr" indent="0" marL="0">
              <a:buNone/>
            </a:pPr>
            <a:r>
              <a:rPr lang="en-US" sz="1300" dirty="0">
                <a:solidFill>
                  <a:schemeClr val="tx1"/>
                </a:solidFill>
              </a:rPr>
              <a:t>Postkorb, Dashboard, Cockpit</a:t>
            </a:r>
            <a:endParaRPr lang="en-US" sz="1300" dirty="0"/>
          </a:p>
        </p:txBody>
      </p:sp>
      <p:sp>
        <p:nvSpPr>
          <p:cNvPr id="16" name="Sequenzfluss"/>
          <p:cNvSpPr/>
          <p:nvPr/>
        </p:nvSpPr>
        <p:spPr>
          <a:xfrm>
            <a:off x="11057839" y="3154680"/>
            <a:ext cx="201168" cy="0"/>
          </a:xfrm>
          <a:prstGeom prst="line">
            <a:avLst/>
          </a:prstGeom>
          <a:noFill/>
          <a:ln w="19050">
            <a:solidFill>
              <a:srgbClr val="121212"/>
            </a:solidFill>
            <a:prstDash val="solid"/>
            <a:tailEnd type="triangle"/>
          </a:ln>
        </p:spPr>
      </p:sp>
      <p:sp>
        <p:nvSpPr>
          <p:cNvPr id="17" name="Endereignis"/>
          <p:cNvSpPr/>
          <p:nvPr/>
        </p:nvSpPr>
        <p:spPr>
          <a:xfrm>
            <a:off x="11259007" y="2962656"/>
            <a:ext cx="384048" cy="384048"/>
          </a:xfrm>
          <a:prstGeom prst="ellipse">
            <a:avLst/>
          </a:prstGeom>
          <a:solidFill>
            <a:srgbClr val="FFFFFF"/>
          </a:solidFill>
          <a:ln w="50800">
            <a:solidFill>
              <a:srgbClr val="121212"/>
            </a:solidFill>
            <a:prstDash val="solid"/>
          </a:ln>
        </p:spPr>
      </p:sp>
      <p:sp>
        <p:nvSpPr>
          <p:cNvPr id="25" name="Slide Number Placeholder 0"/>
          <p:cNvSpPr>
            <a:spLocks noGrp="1"/>
          </p:cNvSpPr>
          <p:nvPr>
            <p:ph type="sldNum" sz="quarter" idx="4294967295"/>
          </p:nvPr>
        </p:nvSpPr>
        <p:spPr>
          <a:xfrm>
            <a:off x="11094415"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7575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000" b="1" dirty="0">
                <a:solidFill>
                  <a:schemeClr val="tx1"/>
                </a:solidFill>
              </a:rPr>
              <a:t>Die BPMN-Engine: CIB seven und CIB flow</a:t>
            </a:r>
            <a:endParaRPr lang="en-US" sz="3000" dirty="0"/>
          </a:p>
        </p:txBody>
      </p:sp>
      <p:sp>
        <p:nvSpPr>
          <p:cNvPr id="3" name="Engine Die Engine der Demo"/>
          <p:cNvSpPr/>
          <p:nvPr/>
        </p:nvSpPr>
        <p:spPr>
          <a:xfrm>
            <a:off x="548640" y="1463040"/>
            <a:ext cx="5364328" cy="3794760"/>
          </a:xfrm>
          <a:prstGeom prst="roundRect">
            <a:avLst>
              <a:gd name="adj" fmla="val 2892"/>
            </a:avLst>
          </a:prstGeom>
          <a:solidFill>
            <a:srgbClr val="FFFFFF"/>
          </a:solidFill>
          <a:ln w="19050">
            <a:solidFill>
              <a:srgbClr val="121212"/>
            </a:solidFill>
            <a:prstDash val="solid"/>
          </a:ln>
        </p:spPr>
      </p:sp>
      <p:pic>
        <p:nvPicPr>
          <p:cNvPr id="4" name="Logo CIB seven" descr="Logo CIB">    </p:cNvPr>
          <p:cNvPicPr>
            <a:picLocks noChangeAspect="1"/>
          </p:cNvPicPr>
          <p:nvPr/>
        </p:nvPicPr>
        <p:blipFill>
          <a:blip r:embed="rId1"/>
          <a:stretch>
            <a:fillRect/>
          </a:stretch>
        </p:blipFill>
        <p:spPr>
          <a:xfrm>
            <a:off x="914400" y="1763601"/>
            <a:ext cx="1600200" cy="724757"/>
          </a:xfrm>
          <a:prstGeom prst="rect">
            <a:avLst/>
          </a:prstGeom>
        </p:spPr>
      </p:pic>
      <p:sp>
        <p:nvSpPr>
          <p:cNvPr id="5" name="Schriftzug seven"/>
          <p:cNvSpPr txBox="1"/>
          <p:nvPr/>
        </p:nvSpPr>
        <p:spPr>
          <a:xfrm>
            <a:off x="2651760" y="1783080"/>
            <a:ext cx="1463040" cy="685800"/>
          </a:xfrm>
          <a:prstGeom prst="rect">
            <a:avLst/>
          </a:prstGeom>
          <a:noFill/>
          <a:ln/>
        </p:spPr>
        <p:txBody>
          <a:bodyPr wrap="square" lIns="0" tIns="0" rIns="0" bIns="0" rtlCol="0" anchor="ctr"/>
          <a:lstStyle/>
          <a:p>
            <a:pPr indent="0" marL="0">
              <a:buNone/>
            </a:pPr>
            <a:r>
              <a:rPr lang="en-US" sz="3000" b="1" dirty="0">
                <a:solidFill>
                  <a:schemeClr val="tx1"/>
                </a:solidFill>
              </a:rPr>
              <a:t>seven</a:t>
            </a:r>
            <a:endParaRPr lang="en-US" sz="3000" dirty="0"/>
          </a:p>
        </p:txBody>
      </p:sp>
      <p:sp>
        <p:nvSpPr>
          <p:cNvPr id="6" name="Einsatz Die Engine der Demo"/>
          <p:cNvSpPr txBox="1"/>
          <p:nvPr/>
        </p:nvSpPr>
        <p:spPr>
          <a:xfrm>
            <a:off x="914400" y="2651760"/>
            <a:ext cx="4632808" cy="457200"/>
          </a:xfrm>
          <a:prstGeom prst="rect">
            <a:avLst/>
          </a:prstGeom>
          <a:noFill/>
          <a:ln/>
        </p:spPr>
        <p:txBody>
          <a:bodyPr wrap="square" lIns="0" tIns="0" rIns="0" bIns="0" rtlCol="0" anchor="ctr"/>
          <a:lstStyle/>
          <a:p>
            <a:pPr indent="0" marL="0">
              <a:buNone/>
            </a:pPr>
            <a:r>
              <a:rPr lang="en-US" sz="2000" b="1" dirty="0">
                <a:solidFill>
                  <a:schemeClr val="tx1"/>
                </a:solidFill>
              </a:rPr>
              <a:t>Die Engine der Demo</a:t>
            </a:r>
            <a:endParaRPr lang="en-US" sz="2000" dirty="0"/>
          </a:p>
        </p:txBody>
      </p:sp>
      <p:sp>
        <p:nvSpPr>
          <p:cNvPr id="7" name="Merkmale Die Engine der Demo"/>
          <p:cNvSpPr txBox="1"/>
          <p:nvPr/>
        </p:nvSpPr>
        <p:spPr>
          <a:xfrm>
            <a:off x="914400" y="3246120"/>
            <a:ext cx="4632808"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Open Source, Camunda-7-Fork</a:t>
            </a:r>
            <a:endParaRPr lang="en-US" sz="1500" dirty="0"/>
          </a:p>
          <a:p>
            <a:pPr marL="342900" indent="-342900">
              <a:spcAft>
                <a:spcPts val="600"/>
              </a:spcAft>
              <a:buSzPct val="100000"/>
              <a:buChar char="•"/>
            </a:pPr>
            <a:r>
              <a:rPr lang="en-US" sz="1500" dirty="0">
                <a:solidFill>
                  <a:schemeClr val="tx1"/>
                </a:solidFill>
              </a:rPr>
              <a:t>Spring-Boot-Dienst mit REST-API</a:t>
            </a:r>
            <a:endParaRPr lang="en-US" sz="1500" dirty="0"/>
          </a:p>
          <a:p>
            <a:pPr marL="342900" indent="-342900">
              <a:spcAft>
                <a:spcPts val="600"/>
              </a:spcAft>
              <a:buSzPct val="100000"/>
              <a:buChar char="•"/>
            </a:pPr>
            <a:r>
              <a:rPr lang="en-US" sz="1500" dirty="0">
                <a:solidFill>
                  <a:schemeClr val="tx1"/>
                </a:solidFill>
              </a:rPr>
              <a:t>DMN direkt in der Engine</a:t>
            </a:r>
            <a:endParaRPr lang="en-US" sz="1500" dirty="0"/>
          </a:p>
          <a:p>
            <a:pPr marL="342900" indent="-342900">
              <a:spcAft>
                <a:spcPts val="600"/>
              </a:spcAft>
              <a:buSzPct val="100000"/>
              <a:buChar char="•"/>
            </a:pPr>
            <a:r>
              <a:rPr lang="en-US" sz="1500" dirty="0">
                <a:solidFill>
                  <a:schemeClr val="tx1"/>
                </a:solidFill>
              </a:rPr>
              <a:t>Cockpit und Tasklist inklusive</a:t>
            </a:r>
            <a:endParaRPr lang="en-US" sz="1500" dirty="0"/>
          </a:p>
          <a:p>
            <a:pPr marL="342900" indent="-342900">
              <a:spcAft>
                <a:spcPts val="600"/>
              </a:spcAft>
              <a:buSzPct val="100000"/>
              <a:buChar char="•"/>
            </a:pPr>
            <a:r>
              <a:rPr lang="en-US" sz="1500" dirty="0">
                <a:solidFill>
                  <a:schemeClr val="tx1"/>
                </a:solidFill>
              </a:rPr>
              <a:t>Historie für Dashboard und Audit</a:t>
            </a:r>
            <a:endParaRPr lang="en-US" sz="1500" dirty="0"/>
          </a:p>
        </p:txBody>
      </p:sp>
      <p:sp>
        <p:nvSpPr>
          <p:cNvPr id="8" name="Engine Für die Enterprise-Einbindung"/>
          <p:cNvSpPr/>
          <p:nvPr/>
        </p:nvSpPr>
        <p:spPr>
          <a:xfrm>
            <a:off x="6278728" y="1463040"/>
            <a:ext cx="5364328" cy="3794760"/>
          </a:xfrm>
          <a:prstGeom prst="roundRect">
            <a:avLst>
              <a:gd name="adj" fmla="val 2892"/>
            </a:avLst>
          </a:prstGeom>
          <a:solidFill>
            <a:srgbClr val="F4F4F4"/>
          </a:solidFill>
          <a:ln w="19050">
            <a:solidFill>
              <a:srgbClr val="121212"/>
            </a:solidFill>
            <a:prstDash val="solid"/>
          </a:ln>
        </p:spPr>
      </p:sp>
      <p:pic>
        <p:nvPicPr>
          <p:cNvPr id="9" name="Logo CIB flow" descr="Logo CIB">    </p:cNvPr>
          <p:cNvPicPr>
            <a:picLocks noChangeAspect="1"/>
          </p:cNvPicPr>
          <p:nvPr/>
        </p:nvPicPr>
        <p:blipFill>
          <a:blip r:embed="rId2"/>
          <a:stretch>
            <a:fillRect/>
          </a:stretch>
        </p:blipFill>
        <p:spPr>
          <a:xfrm>
            <a:off x="6644488" y="1763601"/>
            <a:ext cx="1600200" cy="724757"/>
          </a:xfrm>
          <a:prstGeom prst="rect">
            <a:avLst/>
          </a:prstGeom>
        </p:spPr>
      </p:pic>
      <p:sp>
        <p:nvSpPr>
          <p:cNvPr id="10" name="Schriftzug flow"/>
          <p:cNvSpPr txBox="1"/>
          <p:nvPr/>
        </p:nvSpPr>
        <p:spPr>
          <a:xfrm>
            <a:off x="8381848" y="1783080"/>
            <a:ext cx="1463040" cy="685800"/>
          </a:xfrm>
          <a:prstGeom prst="rect">
            <a:avLst/>
          </a:prstGeom>
          <a:noFill/>
          <a:ln/>
        </p:spPr>
        <p:txBody>
          <a:bodyPr wrap="square" lIns="0" tIns="0" rIns="0" bIns="0" rtlCol="0" anchor="ctr"/>
          <a:lstStyle/>
          <a:p>
            <a:pPr indent="0" marL="0">
              <a:buNone/>
            </a:pPr>
            <a:r>
              <a:rPr lang="en-US" sz="3000" b="1" dirty="0">
                <a:solidFill>
                  <a:schemeClr val="tx1"/>
                </a:solidFill>
              </a:rPr>
              <a:t>flow</a:t>
            </a:r>
            <a:endParaRPr lang="en-US" sz="3000" dirty="0"/>
          </a:p>
        </p:txBody>
      </p:sp>
      <p:sp>
        <p:nvSpPr>
          <p:cNvPr id="11" name="Einsatz Für die Enterprise-Einbindung"/>
          <p:cNvSpPr txBox="1"/>
          <p:nvPr/>
        </p:nvSpPr>
        <p:spPr>
          <a:xfrm>
            <a:off x="6644488" y="2651760"/>
            <a:ext cx="4632808" cy="457200"/>
          </a:xfrm>
          <a:prstGeom prst="rect">
            <a:avLst/>
          </a:prstGeom>
          <a:noFill/>
          <a:ln/>
        </p:spPr>
        <p:txBody>
          <a:bodyPr wrap="square" lIns="0" tIns="0" rIns="0" bIns="0" rtlCol="0" anchor="ctr"/>
          <a:lstStyle/>
          <a:p>
            <a:pPr indent="0" marL="0">
              <a:buNone/>
            </a:pPr>
            <a:r>
              <a:rPr lang="en-US" sz="2000" b="1" dirty="0">
                <a:solidFill>
                  <a:schemeClr val="tx1"/>
                </a:solidFill>
              </a:rPr>
              <a:t>Für die Enterprise-Einbindung</a:t>
            </a:r>
            <a:endParaRPr lang="en-US" sz="2000" dirty="0"/>
          </a:p>
        </p:txBody>
      </p:sp>
      <p:sp>
        <p:nvSpPr>
          <p:cNvPr id="12" name="Merkmale Für die Enterprise-Einbindung"/>
          <p:cNvSpPr txBox="1"/>
          <p:nvPr/>
        </p:nvSpPr>
        <p:spPr>
          <a:xfrm>
            <a:off x="6644488" y="3246120"/>
            <a:ext cx="4632808"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Formulare für User Tasks</a:t>
            </a:r>
            <a:endParaRPr lang="en-US" sz="1500" dirty="0"/>
          </a:p>
          <a:p>
            <a:pPr marL="342900" indent="-342900">
              <a:spcAft>
                <a:spcPts val="600"/>
              </a:spcAft>
              <a:buSzPct val="100000"/>
              <a:buChar char="•"/>
            </a:pPr>
            <a:r>
              <a:rPr lang="en-US" sz="1500" dirty="0">
                <a:solidFill>
                  <a:schemeClr val="tx1"/>
                </a:solidFill>
              </a:rPr>
              <a:t>Rechte, Rollen, Konnektoren</a:t>
            </a:r>
            <a:endParaRPr lang="en-US" sz="1500" dirty="0"/>
          </a:p>
          <a:p>
            <a:pPr marL="342900" indent="-342900">
              <a:spcAft>
                <a:spcPts val="600"/>
              </a:spcAft>
              <a:buSzPct val="100000"/>
              <a:buChar char="•"/>
            </a:pPr>
            <a:r>
              <a:rPr lang="en-US" sz="1500" dirty="0">
                <a:solidFill>
                  <a:schemeClr val="tx1"/>
                </a:solidFill>
              </a:rPr>
              <a:t>Baut auf CIB seven auf</a:t>
            </a:r>
            <a:endParaRPr lang="en-US" sz="1500" dirty="0"/>
          </a:p>
        </p:txBody>
      </p:sp>
      <p:sp>
        <p:nvSpPr>
          <p:cNvPr id="13" name="Zitatbalken"/>
          <p:cNvSpPr/>
          <p:nvPr/>
        </p:nvSpPr>
        <p:spPr>
          <a:xfrm>
            <a:off x="548640" y="5440680"/>
            <a:ext cx="68580" cy="685800"/>
          </a:xfrm>
          <a:prstGeom prst="rect">
            <a:avLst/>
          </a:prstGeom>
          <a:solidFill>
            <a:srgbClr val="121212"/>
          </a:solidFill>
          <a:ln w="12700">
            <a:solidFill>
              <a:srgbClr val="121212"/>
            </a:solidFill>
            <a:prstDash val="solid"/>
          </a:ln>
        </p:spPr>
      </p:sp>
      <p:sp>
        <p:nvSpPr>
          <p:cNvPr id="14" name="Empfehlung"/>
          <p:cNvSpPr txBox="1"/>
          <p:nvPr/>
        </p:nvSpPr>
        <p:spPr>
          <a:xfrm>
            <a:off x="822960" y="5440680"/>
            <a:ext cx="10820095" cy="685800"/>
          </a:xfrm>
          <a:prstGeom prst="rect">
            <a:avLst/>
          </a:prstGeom>
          <a:noFill/>
          <a:ln/>
        </p:spPr>
        <p:txBody>
          <a:bodyPr wrap="square" lIns="0" tIns="0" rIns="0" bIns="0" rtlCol="0" anchor="ctr"/>
          <a:lstStyle/>
          <a:p>
            <a:pPr indent="0" marL="0">
              <a:buNone/>
            </a:pPr>
            <a:r>
              <a:rPr lang="en-US" sz="1600" b="1" dirty="0">
                <a:solidFill>
                  <a:schemeClr val="tx1"/>
                </a:solidFill>
              </a:rPr>
              <a:t>Die Demo läuft auf CIB seven – für viele Sachbearbeiter mit Formularen und Rechten empfehlen wir CIB flow.</a:t>
            </a:r>
            <a:endParaRPr lang="en-US" sz="1600" dirty="0"/>
          </a:p>
        </p:txBody>
      </p:sp>
      <p:sp>
        <p:nvSpPr>
          <p:cNvPr id="25" name="Slide Number Placeholder 0"/>
          <p:cNvSpPr>
            <a:spLocks noGrp="1"/>
          </p:cNvSpPr>
          <p:nvPr>
            <p:ph type="sldNum" sz="quarter" idx="4294967295"/>
          </p:nvPr>
        </p:nvSpPr>
        <p:spPr>
          <a:xfrm>
            <a:off x="11094415"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7575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2331720"/>
            <a:ext cx="11094415" cy="1188720"/>
          </a:xfrm>
          <a:prstGeom prst="rect">
            <a:avLst/>
          </a:prstGeom>
          <a:noFill/>
          <a:ln/>
        </p:spPr>
        <p:txBody>
          <a:bodyPr wrap="square" lIns="0" tIns="0" rIns="0" bIns="0" rtlCol="0" anchor="b"/>
          <a:lstStyle/>
          <a:p>
            <a:pPr algn="l" indent="0" marL="0">
              <a:buNone/>
            </a:pPr>
            <a:r>
              <a:rPr lang="en-US" sz="5400" b="1" dirty="0">
                <a:solidFill>
                  <a:schemeClr val="tx1"/>
                </a:solidFill>
              </a:rPr>
              <a:t>Fragen?</a:t>
            </a:r>
            <a:endParaRPr lang="en-US" sz="5400" dirty="0"/>
          </a:p>
        </p:txBody>
      </p:sp>
      <p:sp>
        <p:nvSpPr>
          <p:cNvPr id="3" name="Text 0"/>
          <p:cNvSpPr/>
          <p:nvPr>
            <p:ph idx="102" type="body" hasCustomPrompt="1"/>
          </p:nvPr>
        </p:nvSpPr>
        <p:spPr>
          <a:xfrm>
            <a:off x="548640" y="3657600"/>
            <a:ext cx="11094415" cy="914400"/>
          </a:xfrm>
          <a:prstGeom prst="rect">
            <a:avLst/>
          </a:prstGeom>
          <a:noFill/>
          <a:ln/>
        </p:spPr>
        <p:txBody>
          <a:bodyPr wrap="square" lIns="0" tIns="0" rIns="0" bIns="0" rtlCol="0" anchor="t"/>
          <a:lstStyle/>
          <a:p>
            <a:pPr algn="l" indent="0" marL="0">
              <a:buNone/>
            </a:pPr>
            <a:r>
              <a:rPr lang="en-US" sz="2200" dirty="0">
                <a:solidFill>
                  <a:schemeClr val="tx1"/>
                </a:solidFill>
              </a:rPr>
              <a:t>Prozesse im Unternehmen · www.piu.de</a:t>
            </a:r>
            <a:endParaRPr lang="en-US" sz="2200" dirty="0"/>
          </a:p>
        </p:txBody>
      </p:sp>
      <p:sp>
        <p:nvSpPr>
          <p:cNvPr id="4" name="Startereignis"/>
          <p:cNvSpPr/>
          <p:nvPr/>
        </p:nvSpPr>
        <p:spPr>
          <a:xfrm>
            <a:off x="548640" y="5394960"/>
            <a:ext cx="384048" cy="384048"/>
          </a:xfrm>
          <a:prstGeom prst="ellipse">
            <a:avLst/>
          </a:prstGeom>
          <a:solidFill>
            <a:srgbClr val="FFFFFF"/>
          </a:solidFill>
          <a:ln w="19050">
            <a:solidFill>
              <a:srgbClr val="121212"/>
            </a:solidFill>
            <a:prstDash val="solid"/>
          </a:ln>
        </p:spPr>
      </p:sp>
      <p:sp>
        <p:nvSpPr>
          <p:cNvPr id="5" name="Sequenzfluss"/>
          <p:cNvSpPr/>
          <p:nvPr/>
        </p:nvSpPr>
        <p:spPr>
          <a:xfrm>
            <a:off x="932688" y="5586984"/>
            <a:ext cx="621792" cy="0"/>
          </a:xfrm>
          <a:prstGeom prst="line">
            <a:avLst/>
          </a:prstGeom>
          <a:noFill/>
          <a:ln w="19050">
            <a:solidFill>
              <a:srgbClr val="121212"/>
            </a:solidFill>
            <a:prstDash val="solid"/>
            <a:tailEnd type="triangle"/>
          </a:ln>
        </p:spPr>
      </p:sp>
      <p:sp>
        <p:nvSpPr>
          <p:cNvPr id="6" name="Endereignis"/>
          <p:cNvSpPr/>
          <p:nvPr/>
        </p:nvSpPr>
        <p:spPr>
          <a:xfrm>
            <a:off x="1554480" y="5394960"/>
            <a:ext cx="384048" cy="384048"/>
          </a:xfrm>
          <a:prstGeom prst="ellipse">
            <a:avLst/>
          </a:prstGeom>
          <a:solidFill>
            <a:srgbClr val="FFFFFF"/>
          </a:solidFill>
          <a:ln w="50800">
            <a:solidFill>
              <a:srgbClr val="121212"/>
            </a:solidFill>
            <a:prstDash val="solid"/>
          </a:ln>
        </p:spPr>
      </p:sp>
      <p:pic>
        <p:nvPicPr>
          <p:cNvPr id="7" name="QR-Code Beitrag" descr="QR-Code: Beitrag zum Vortrag auf piu.de, https://www.piu.de/vertical-ai-im-kyc-prozess/">    </p:cNvPr>
          <p:cNvPicPr>
            <a:picLocks noChangeAspect="1"/>
          </p:cNvPicPr>
          <p:nvPr/>
        </p:nvPicPr>
        <p:blipFill>
          <a:blip r:embed="rId1"/>
          <a:stretch>
            <a:fillRect/>
          </a:stretch>
        </p:blipFill>
        <p:spPr>
          <a:xfrm>
            <a:off x="9448495" y="2240280"/>
            <a:ext cx="2194560" cy="2194560"/>
          </a:xfrm>
          <a:prstGeom prst="rect">
            <a:avLst/>
          </a:prstGeom>
        </p:spPr>
      </p:pic>
      <p:sp>
        <p:nvSpPr>
          <p:cNvPr id="8" name="QR-Beschriftung"/>
          <p:cNvSpPr txBox="1"/>
          <p:nvPr/>
        </p:nvSpPr>
        <p:spPr>
          <a:xfrm>
            <a:off x="8991295" y="4526280"/>
            <a:ext cx="3108960" cy="365760"/>
          </a:xfrm>
          <a:prstGeom prst="rect">
            <a:avLst/>
          </a:prstGeom>
          <a:noFill/>
          <a:ln/>
        </p:spPr>
        <p:txBody>
          <a:bodyPr wrap="square" lIns="0" tIns="0" rIns="0" bIns="0" rtlCol="0" anchor="ctr"/>
          <a:lstStyle/>
          <a:p>
            <a:pPr algn="ctr" indent="0" marL="0">
              <a:buNone/>
            </a:pPr>
            <a:r>
              <a:rPr lang="en-US" sz="1300" dirty="0">
                <a:solidFill>
                  <a:srgbClr val="757575"/>
                </a:solidFill>
              </a:rPr>
              <a:t>Beitrag, Code und Modell</a:t>
            </a:r>
            <a:endParaRPr lang="en-US" sz="1300" dirty="0"/>
          </a:p>
        </p:txBody>
      </p:sp>
    </p:spTree>
  </p:cSld>
  <p:clrMapOvr>
    <a:masterClrMapping/>
  </p:clrMapOvr>
</p:sld>
</file>

<file path=ppt/theme/theme1.xml><?xml version="1.0" encoding="utf-8"?>
<a:theme xmlns:a="http://schemas.openxmlformats.org/drawingml/2006/main" name="piu Prozesse im Unternehmen">
  <a:themeElements>
    <a:clrScheme name="piu Prozesse im Unternehmen">
      <a:dk1>
        <a:srgbClr val="121212"/>
      </a:dk1>
      <a:lt1>
        <a:srgbClr val="FFFFFF"/>
      </a:lt1>
      <a:dk2>
        <a:srgbClr val="2B2B2B"/>
      </a:dk2>
      <a:lt2>
        <a:srgbClr val="F4F4F4"/>
      </a:lt2>
      <a:accent1>
        <a:srgbClr val="121212"/>
      </a:accent1>
      <a:accent2>
        <a:srgbClr val="757575"/>
      </a:accent2>
      <a:accent3>
        <a:srgbClr val="EFEFEF"/>
      </a:accent3>
      <a:accent4>
        <a:srgbClr val="2B2B2B"/>
      </a:accent4>
      <a:accent5>
        <a:srgbClr val="9B0103"/>
      </a:accent5>
      <a:accent6>
        <a:srgbClr val="ABB8C3"/>
      </a:accent6>
      <a:hlink>
        <a:srgbClr val="121212"/>
      </a:hlink>
      <a:folHlink>
        <a:srgbClr val="757575"/>
      </a:folHlink>
    </a:clrScheme>
    <a:fontScheme name="piu Prozesse im Unternehmen">
      <a:majorFont>
        <a:latin typeface="Menl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nl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piu – Prozesse im Unternehmen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Vertical AI im KYC-Prozess</dc:title>
  <dc:subject>PptxGenJS Presentation</dc:subject>
  <dc:creator>PptxGenJS</dc:creator>
  <cp:lastModifiedBy>PptxGenJS</cp:lastModifiedBy>
  <cp:revision>1</cp:revision>
  <dcterms:created xsi:type="dcterms:W3CDTF">2026-10-15T21:53:26Z</dcterms:created>
  <dcterms:modified xsi:type="dcterms:W3CDTF">2026-10-15T21:53:26Z</dcterms:modified>
</cp:coreProperties>
</file>